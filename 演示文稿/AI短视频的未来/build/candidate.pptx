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16e2b246354f7b" /><Relationship Type="http://schemas.openxmlformats.org/officeDocument/2006/relationships/extended-properties" Target="/docProps/app.xml" Id="R72da5bbd363a40b2" /><Relationship Type="http://schemas.openxmlformats.org/officeDocument/2006/relationships/officeDocument" Target="/ppt/presentation.xml" Id="R18533445ad944f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ef3a7579fe4526"/>
  </p:sldMasterIdLst>
  <p:notesMasterIdLst>
    <p:notesMasterId xmlns:r="http://schemas.openxmlformats.org/officeDocument/2006/relationships" r:id="Rab8276c37e2a4f0b"/>
  </p:notesMasterIdLst>
  <p:sldIdLst>
    <p:sldId xmlns:r="http://schemas.openxmlformats.org/officeDocument/2006/relationships" id="256" r:id="R897c3a4571544b1a"/>
    <p:sldId xmlns:r="http://schemas.openxmlformats.org/officeDocument/2006/relationships" id="257" r:id="Rffd326610b824461"/>
    <p:sldId xmlns:r="http://schemas.openxmlformats.org/officeDocument/2006/relationships" id="258" r:id="R4adeb8789f5e4f25"/>
    <p:sldId xmlns:r="http://schemas.openxmlformats.org/officeDocument/2006/relationships" id="259" r:id="R31deeda7c95a4522"/>
    <p:sldId xmlns:r="http://schemas.openxmlformats.org/officeDocument/2006/relationships" id="260" r:id="R098acf8e41164c06"/>
    <p:sldId xmlns:r="http://schemas.openxmlformats.org/officeDocument/2006/relationships" id="261" r:id="R68999825517e42c5"/>
    <p:sldId xmlns:r="http://schemas.openxmlformats.org/officeDocument/2006/relationships" id="262" r:id="Rc579885f1d694ae4"/>
    <p:sldId xmlns:r="http://schemas.openxmlformats.org/officeDocument/2006/relationships" id="263" r:id="Rbb331bd0fb284403"/>
    <p:sldId xmlns:r="http://schemas.openxmlformats.org/officeDocument/2006/relationships" id="264" r:id="R7b1d1b0435bb493e"/>
    <p:sldId xmlns:r="http://schemas.openxmlformats.org/officeDocument/2006/relationships" id="265" r:id="Ra22c3f64f0634d71"/>
    <p:sldId xmlns:r="http://schemas.openxmlformats.org/officeDocument/2006/relationships" id="266" r:id="R6353954d84534c5c"/>
    <p:sldId xmlns:r="http://schemas.openxmlformats.org/officeDocument/2006/relationships" id="267" r:id="Rd5d44e5fc2c6405f"/>
    <p:sldId xmlns:r="http://schemas.openxmlformats.org/officeDocument/2006/relationships" id="268" r:id="R1358cd3280c74fdf"/>
    <p:sldId xmlns:r="http://schemas.openxmlformats.org/officeDocument/2006/relationships" id="269" r:id="R2901cedbe1594e5a"/>
    <p:sldId xmlns:r="http://schemas.openxmlformats.org/officeDocument/2006/relationships" id="270" r:id="R8caff268fcae4b44"/>
    <p:sldId xmlns:r="http://schemas.openxmlformats.org/officeDocument/2006/relationships" id="271" r:id="R7f44846db9084165"/>
    <p:sldId xmlns:r="http://schemas.openxmlformats.org/officeDocument/2006/relationships" id="272" r:id="R17edcf2a38a74358"/>
    <p:sldId xmlns:r="http://schemas.openxmlformats.org/officeDocument/2006/relationships" id="273" r:id="Rae5e9ad9b17c4588"/>
    <p:sldId xmlns:r="http://schemas.openxmlformats.org/officeDocument/2006/relationships" id="274" r:id="R181f5e6a9aae4082"/>
    <p:sldId xmlns:r="http://schemas.openxmlformats.org/officeDocument/2006/relationships" id="275" r:id="R668f157e564249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a97c5efef448d4" /><Relationship Type="http://schemas.openxmlformats.org/officeDocument/2006/relationships/slideMaster" Target="/ppt/slideMasters/slideMaster1.xml" Id="R24ef3a7579fe4526" /><Relationship Type="http://schemas.openxmlformats.org/officeDocument/2006/relationships/notesMaster" Target="/ppt/notesMasters/notesMaster1.xml" Id="Rab8276c37e2a4f0b" /><Relationship Type="http://schemas.openxmlformats.org/officeDocument/2006/relationships/presProps" Target="/ppt/presProps.xml" Id="R23614a868c544d47" /><Relationship Type="http://schemas.openxmlformats.org/officeDocument/2006/relationships/tableStyles" Target="/ppt/tableStyles.xml" Id="R2dff6d44d8044942" /><Relationship Type="http://schemas.openxmlformats.org/officeDocument/2006/relationships/slide" Target="/ppt/slides/slide1.xml" Id="R897c3a4571544b1a" /><Relationship Type="http://schemas.openxmlformats.org/officeDocument/2006/relationships/slide" Target="/ppt/slides/slide2.xml" Id="Rffd326610b824461" /><Relationship Type="http://schemas.openxmlformats.org/officeDocument/2006/relationships/slide" Target="/ppt/slides/slide3.xml" Id="R4adeb8789f5e4f25" /><Relationship Type="http://schemas.openxmlformats.org/officeDocument/2006/relationships/slide" Target="/ppt/slides/slide4.xml" Id="R31deeda7c95a4522" /><Relationship Type="http://schemas.openxmlformats.org/officeDocument/2006/relationships/slide" Target="/ppt/slides/slide5.xml" Id="R098acf8e41164c06" /><Relationship Type="http://schemas.openxmlformats.org/officeDocument/2006/relationships/slide" Target="/ppt/slides/slide6.xml" Id="R68999825517e42c5" /><Relationship Type="http://schemas.openxmlformats.org/officeDocument/2006/relationships/slide" Target="/ppt/slides/slide7.xml" Id="Rc579885f1d694ae4" /><Relationship Type="http://schemas.openxmlformats.org/officeDocument/2006/relationships/slide" Target="/ppt/slides/slide8.xml" Id="Rbb331bd0fb284403" /><Relationship Type="http://schemas.openxmlformats.org/officeDocument/2006/relationships/slide" Target="/ppt/slides/slide9.xml" Id="R7b1d1b0435bb493e" /><Relationship Type="http://schemas.openxmlformats.org/officeDocument/2006/relationships/slide" Target="/ppt/slides/slide10.xml" Id="Ra22c3f64f0634d71" /><Relationship Type="http://schemas.openxmlformats.org/officeDocument/2006/relationships/slide" Target="/ppt/slides/slide11.xml" Id="R6353954d84534c5c" /><Relationship Type="http://schemas.openxmlformats.org/officeDocument/2006/relationships/slide" Target="/ppt/slides/slide12.xml" Id="Rd5d44e5fc2c6405f" /><Relationship Type="http://schemas.openxmlformats.org/officeDocument/2006/relationships/slide" Target="/ppt/slides/slide13.xml" Id="R1358cd3280c74fdf" /><Relationship Type="http://schemas.openxmlformats.org/officeDocument/2006/relationships/slide" Target="/ppt/slides/slide14.xml" Id="R2901cedbe1594e5a" /><Relationship Type="http://schemas.openxmlformats.org/officeDocument/2006/relationships/slide" Target="/ppt/slides/slide15.xml" Id="R8caff268fcae4b44" /><Relationship Type="http://schemas.openxmlformats.org/officeDocument/2006/relationships/slide" Target="/ppt/slides/slide16.xml" Id="R7f44846db9084165" /><Relationship Type="http://schemas.openxmlformats.org/officeDocument/2006/relationships/slide" Target="/ppt/slides/slide17.xml" Id="R17edcf2a38a74358" /><Relationship Type="http://schemas.openxmlformats.org/officeDocument/2006/relationships/slide" Target="/ppt/slides/slide18.xml" Id="Rae5e9ad9b17c4588" /><Relationship Type="http://schemas.openxmlformats.org/officeDocument/2006/relationships/slide" Target="/ppt/slides/slide19.xml" Id="R181f5e6a9aae4082" /><Relationship Type="http://schemas.openxmlformats.org/officeDocument/2006/relationships/slide" Target="/ppt/slides/slide20.xml" Id="R668f157e564249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57f831855c49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172ca15f9846b0" /><Relationship Type="http://schemas.openxmlformats.org/officeDocument/2006/relationships/notesMaster" Target="/ppt/notesMasters/notesMaster1.xml" Id="R94d3d8e5840848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f6ee36fe3f4d6d" /><Relationship Type="http://schemas.openxmlformats.org/officeDocument/2006/relationships/notesMaster" Target="/ppt/notesMasters/notesMaster1.xml" Id="R264c4846a8bf40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61444c0a574558" /><Relationship Type="http://schemas.openxmlformats.org/officeDocument/2006/relationships/notesMaster" Target="/ppt/notesMasters/notesMaster1.xml" Id="R95b64c1d40334b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13c733c3f947aa" /><Relationship Type="http://schemas.openxmlformats.org/officeDocument/2006/relationships/notesMaster" Target="/ppt/notesMasters/notesMaster1.xml" Id="Rf7854da572e74f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0fe79f6b15424c" /><Relationship Type="http://schemas.openxmlformats.org/officeDocument/2006/relationships/notesMaster" Target="/ppt/notesMasters/notesMaster1.xml" Id="R3083d26f55154c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3af8e5a6e74a06" /><Relationship Type="http://schemas.openxmlformats.org/officeDocument/2006/relationships/notesMaster" Target="/ppt/notesMasters/notesMaster1.xml" Id="R44a4ffbd484346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b0d8bee14c4d74" /><Relationship Type="http://schemas.openxmlformats.org/officeDocument/2006/relationships/notesMaster" Target="/ppt/notesMasters/notesMaster1.xml" Id="R15b2081570414b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b7635e6df74884" /><Relationship Type="http://schemas.openxmlformats.org/officeDocument/2006/relationships/notesMaster" Target="/ppt/notesMasters/notesMaster1.xml" Id="R72c86243fbdb44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80f5f3b4844294" /><Relationship Type="http://schemas.openxmlformats.org/officeDocument/2006/relationships/notesMaster" Target="/ppt/notesMasters/notesMaster1.xml" Id="R26a417f0deff42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988b220b9142e1" /><Relationship Type="http://schemas.openxmlformats.org/officeDocument/2006/relationships/notesMaster" Target="/ppt/notesMasters/notesMaster1.xml" Id="R86d2338551044f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2497e9562c412a" /><Relationship Type="http://schemas.openxmlformats.org/officeDocument/2006/relationships/notesMaster" Target="/ppt/notesMasters/notesMaster1.xml" Id="Ra0d8be25f36847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1db4fbbfbe47bf" /><Relationship Type="http://schemas.openxmlformats.org/officeDocument/2006/relationships/notesMaster" Target="/ppt/notesMasters/notesMaster1.xml" Id="R8bb53c07f1f349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daa8d508304cc8" /><Relationship Type="http://schemas.openxmlformats.org/officeDocument/2006/relationships/notesMaster" Target="/ppt/notesMasters/notesMaster1.xml" Id="R19703465d53d40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de73af6c444203" /><Relationship Type="http://schemas.openxmlformats.org/officeDocument/2006/relationships/notesMaster" Target="/ppt/notesMasters/notesMaster1.xml" Id="Rb67fcfa97a0d4f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d60a4b83614d5c" /><Relationship Type="http://schemas.openxmlformats.org/officeDocument/2006/relationships/notesMaster" Target="/ppt/notesMasters/notesMaster1.xml" Id="R44ba0e803d2a4a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7197aeb4944984" /><Relationship Type="http://schemas.openxmlformats.org/officeDocument/2006/relationships/notesMaster" Target="/ppt/notesMasters/notesMaster1.xml" Id="Red759b43e2e641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6b533681c44b5f" /><Relationship Type="http://schemas.openxmlformats.org/officeDocument/2006/relationships/notesMaster" Target="/ppt/notesMasters/notesMaster1.xml" Id="Rd3c4c0ea1bec4b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e08175c4124f04" /><Relationship Type="http://schemas.openxmlformats.org/officeDocument/2006/relationships/notesMaster" Target="/ppt/notesMasters/notesMaster1.xml" Id="R88dedfeb4c3e43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0f3a7f51cf4add" /><Relationship Type="http://schemas.openxmlformats.org/officeDocument/2006/relationships/notesMaster" Target="/ppt/notesMasters/notesMaster1.xml" Id="Rc1447df71a954a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e2dc05561240fc" /><Relationship Type="http://schemas.openxmlformats.org/officeDocument/2006/relationships/notesMaster" Target="/ppt/notesMasters/notesMaster1.xml" Id="Rb78b9b6109de4d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页｜AI 短视频的未来</a:t>
            </a:r>
          </a:p>
          <a:p xmlns:a="http://schemas.openxmlformats.org/drawingml/2006/main">
            <a:r>
              <a:t>建议用时：40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今天我想从 AI 短剧出发，讨论 AI 会怎样改变短视频，以及这种变化对普通创作者和观看者意味着什么。画面越来越容易生成，过去需要团队完成的表达，如今可能由更少的人尝试。但我更关心的是：当所有人都能做出看起来不错的画面，什么还能让作品不同？我的回答会涉及创新，也会涉及我们怎样分配注意力、怎样积累生活经验。这里有行业资料，也有我的判断；谈到未来时，我会把它作为一种有条件的可能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本页为演讲者观察、分析、虚构例子或建议；不作为实证结论。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页｜从身边的观察开始</a:t>
            </a:r>
          </a:p>
          <a:p xmlns:a="http://schemas.openxmlformats.org/drawingml/2006/main">
            <a:r>
              <a:t>建议用时：60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我的出发点是身边的一个现象。我自己对一些 AI 短剧没有太大兴趣，甚至觉得不如电影片段，但有些过去不太常刷短视频的人，却开始不断追着看。这只是我看到的现象，不能据此说整个社会都发生了同样的转变。不过它提出了一个很有意思的问题：他们喜欢的究竟是 AI，还是借助 AI 更容易出现的某种故事？对观众来说，制作技术可能不是最先被感知的部分。熟悉的题材、容易进入的情节，以及看完这一段就想知道下一段的期待，可能更接近真实的观看动机。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本页为演讲者观察、分析、虚构例子或建议；不作为实证结论。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页｜先分清概念与指标</a:t>
            </a:r>
          </a:p>
          <a:p xmlns:a="http://schemas.openxmlformats.org/drawingml/2006/main">
            <a:r>
              <a:t>建议用时：55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这里先避免一个常见混淆。AI 短视频包括很多类型，例如广告、知识表达和视觉片段；AI 短剧只是其中以叙事为主的一部分。漫剧还可能混合人工编剧、配音、剪辑与生成画面。因此，看到短剧行业的增长，不能直接把所有增长归到 AI 身上。同样，播放次数、真实观看人数、持续追更和创作者收入，也不能互相替代。一条内容被推荐，不等于观众长期喜欢它；有很多观看，也不等于作者获得稳定收入。后面讨论未来时，我们会始终保留这些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[S1] QuestMobile｜2026 短剧行业洞察报告（2026-04-08）</a:t>
            </a:r>
          </a:p>
          <a:p xmlns:a="http://schemas.openxmlformats.org/drawingml/2006/main">
            <a:r>
              <a:t>https://www.questmobile.cn/research/report/2041710682848727041/</a:t>
            </a:r>
          </a:p>
          <a:p xmlns:a="http://schemas.openxmlformats.org/drawingml/2006/main">
            <a:r>
              <a:t>使用范围：用户规模、应用迁移与观看行为；报告口径不等于 AI 短剧总体。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页｜故事、入口与连续期待</a:t>
            </a:r>
          </a:p>
          <a:p xmlns:a="http://schemas.openxmlformats.org/drawingml/2006/main">
            <a:r>
              <a:t>建议用时：65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把吸引力拆开，我会看三个环节。首先是容易进入：熟悉的关系、冲突和情感，让人在很短的时间里就知道自己在看什么。其次是容易遇见：平台推荐、内容推广和已有应用之间的迁移，都可能把内容送到新观众面前。QuestMobile 的报告也提到关联应用之间的用户流动，所以增长不一定意味着从来不看短视频的人突然被转化。最后是容易续看：观众在意人物接下来会怎样，悬念和连续更新让一段内容自然连接到下一段。这些机制在 AI 出现前就存在，AI 让更多内容可以进入这个系统。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[S1] QuestMobile｜2026 短剧行业洞察报告（2026-04-08）</a:t>
            </a:r>
          </a:p>
          <a:p xmlns:a="http://schemas.openxmlformats.org/drawingml/2006/main">
            <a:r>
              <a:t>https://www.questmobile.cn/research/report/2041710682848727041/</a:t>
            </a:r>
          </a:p>
          <a:p xmlns:a="http://schemas.openxmlformats.org/drawingml/2006/main">
            <a:r>
              <a:t>使用范围：用户规模、应用迁移与观看行为；报告口径不等于 AI 短剧总体。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Cao 等｜Audience in the Loop（2026）</a:t>
            </a:r>
          </a:p>
          <a:p xmlns:a="http://schemas.openxmlformats.org/drawingml/2006/main">
            <a:r>
              <a:t>https://arxiv.org/abs/2602.14045</a:t>
            </a:r>
          </a:p>
          <a:p xmlns:a="http://schemas.openxmlformats.org/drawingml/2006/main">
            <a:r>
              <a:t>使用范围：28 名微短剧编剧的访谈；反馈如何进入创作。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页｜尝试与复制的成本</a:t>
            </a:r>
          </a:p>
          <a:p xmlns:a="http://schemas.openxmlformats.org/drawingml/2006/main">
            <a:r>
              <a:t>建议用时：60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的影响不仅是把一个镜头做快。它还让创作者可以尝试更多版本，也让成熟模板更容易被复制。研究者对二十八名微短剧编剧的访谈，显示观众反馈会进入内容创作过程。这提醒我们，同质化不能只归因于模型：当某种情节已经被证明容易得到反馈，创作者和平台都有继续采用它的动力。技术既可以支持过去难以拍摄的小众故事，也可以加快同一套内容的生产。最后走向哪一边，取决于创作目标、评价方式和分发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[S2] Cao 等｜Audience in the Loop（2026）</a:t>
            </a:r>
          </a:p>
          <a:p xmlns:a="http://schemas.openxmlformats.org/drawingml/2006/main">
            <a:r>
              <a:t>https://arxiv.org/abs/2602.14045</a:t>
            </a:r>
          </a:p>
          <a:p xmlns:a="http://schemas.openxmlformats.org/drawingml/2006/main">
            <a:r>
              <a:t>使用范围：28 名微短剧编剧的访谈；反馈如何进入创作。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科技日报／新华网｜AI 漫剧产业报道（2026-03-20）</a:t>
            </a:r>
          </a:p>
          <a:p xmlns:a="http://schemas.openxmlformats.org/drawingml/2006/main">
            <a:r>
              <a:t>https://www.news.cn/tech/20260320/f6fa062b5353475bb52dfc1ca31e1ccd/c.html</a:t>
            </a:r>
          </a:p>
          <a:p xmlns:a="http://schemas.openxmlformats.org/drawingml/2006/main">
            <a:r>
              <a:t>使用范围：平台工具、扶持与产业链；行业报道，不是收益保证。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页｜三种可能并存的未来</a:t>
            </a:r>
          </a:p>
          <a:p xmlns:a="http://schemas.openxmlformats.org/drawingml/2006/main">
            <a:r>
              <a:t>建议用时：65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我用三种情景来讨论未来几年，而不是预测哪一年必然发生什么。第一种是创作更开放：小团队能尝试过去承担不起的题材，小众观众也得到更合适的内容。第二种是模板更密集：同样的故事被做成更多版本，竞争加剧，创作者未必更好赚钱。第三种是互动叙事开始发展，观众对人物或情节的选择能影响故事。这三种情况并不互相排斥。我们可以用未来几年观察它们，但互动故事的成熟时间尤其不确定。判断发展方向，要看持续交付、内容差异和用户体验，不只看演示片段有多惊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本页为演讲者观察、分析、虚构例子或建议；不作为实证结论。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页｜让小题材被看见</a:t>
            </a:r>
          </a:p>
          <a:p xmlns:a="http://schemas.openxmlformats.org/drawingml/2006/main">
            <a:r>
              <a:t>建议用时：60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先说我更期待的一种可能。过去，一个人也许有很好的故事，却没有能力把它变成影像。AI 可以帮助这种表达迈出第一步。机会未必都在做下一部爆款爽剧，也可能在地方生活、专业知识、个人经历或者特别小众的想象里。例如，一个懂计算机的人，可以把系统故障背后的人和选择拍成故事；熟悉一种地方生活的人，可以写出外人注意不到的习惯和关系。这些例子是设想。技术降低了部分制作门槛，但对受众的理解、对细节的把握和持续完成作品的能力，仍然需要积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[S3] 科技日报／新华网｜AI 漫剧产业报道（2026-03-20）</a:t>
            </a:r>
          </a:p>
          <a:p xmlns:a="http://schemas.openxmlformats.org/drawingml/2006/main">
            <a:r>
              <a:t>https://www.news.cn/tech/20260320/f6fa062b5353475bb52dfc1ca31e1ccd/c.html</a:t>
            </a:r>
          </a:p>
          <a:p xmlns:a="http://schemas.openxmlformats.org/drawingml/2006/main">
            <a:r>
              <a:t>使用范围：平台工具、扶持与产业链；行业报道，不是收益保证。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[S4] 光明日报／新华网｜AI 创作实践报道（2026-08-18）</a:t>
            </a:r>
          </a:p>
          <a:p xmlns:a="http://schemas.openxmlformats.org/drawingml/2006/main">
            <a:r>
              <a:t>https://www.news.cn/ent/20260818/75f46c22efb84f35b8ef3db85917d7f2/c.html</a:t>
            </a:r>
          </a:p>
          <a:p xmlns:a="http://schemas.openxmlformats.org/drawingml/2006/main">
            <a:r>
              <a:t>使用范围：创作者实践与反复试错成本；个案不能外推全行业。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页｜个性化与互动的边界</a:t>
            </a:r>
          </a:p>
          <a:p xmlns:a="http://schemas.openxmlformats.org/drawingml/2006/main">
            <a:r>
              <a:t>建议用时：60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个性化听起来像是一个词，实际上有不同层次。推荐系统先从已有作品中挑选内容；多版本制作则让同一故事适应不同语言或风格；再往后，才是观众参与并持续改变剧情。像 Genie 3 这样的技术展示，让我们看到了交互生成世界的探索，但它不能证明稳定、便宜、长时间运行的个人专属短剧已经成熟。越往后，角色一致性、剧情逻辑、实时响应、成本和内容授权就越重要。还有一个问题：如果故事越来越懂我的喜好，我能否知道它如何被生成，并决定什么时候退出、换一种内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[S8] Google DeepMind｜Genie 3 技术展示（2025-08-05）</a:t>
            </a:r>
          </a:p>
          <a:p xmlns:a="http://schemas.openxmlformats.org/drawingml/2006/main">
            <a:r>
              <a:t>https://deepmind.google/blog/genie-3-a-new-frontier-for-world-models/</a:t>
            </a:r>
          </a:p>
          <a:p xmlns:a="http://schemas.openxmlformats.org/drawingml/2006/main">
            <a:r>
              <a:t>使用范围：交互式生成世界的技术探索；不代表成熟的实时个性化长剧情。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页｜从做出作品到稳定收入</a:t>
            </a:r>
          </a:p>
          <a:p xmlns:a="http://schemas.openxmlformats.org/drawingml/2006/main">
            <a:r>
              <a:t>建议用时：55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对普通创作者来说，表达机会增加是一件好事，但我们最好把三个问题分开。第一个是能否完成作品，第二个是能否找到愿意持续观看的受众，第三个才是能否形成收入。AI 主要改善其中一部分生产过程。它并不保证作品会被推荐，也不保证平台分成、商业合作或者用户付费能够覆盖投入。更便宜的生产，有时还意味着更多人进入市场，竞争变得激烈。因此，我不会把 AI 创作描述成一种轻松赚钱的方法。比较实际的判断标准，是能否以可承受的投入，持续做出特定观众愿意回来的内容。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[S3] 科技日报／新华网｜AI 漫剧产业报道（2026-03-20）</a:t>
            </a:r>
          </a:p>
          <a:p xmlns:a="http://schemas.openxmlformats.org/drawingml/2006/main">
            <a:r>
              <a:t>https://www.news.cn/tech/20260320/f6fa062b5353475bb52dfc1ca31e1ccd/c.html</a:t>
            </a:r>
          </a:p>
          <a:p xmlns:a="http://schemas.openxmlformats.org/drawingml/2006/main">
            <a:r>
              <a:t>使用范围：平台工具、扶持与产业链；行业报道，不是收益保证。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[S4] 光明日报／新华网｜AI 创作实践报道（2026-08-18）</a:t>
            </a:r>
          </a:p>
          <a:p xmlns:a="http://schemas.openxmlformats.org/drawingml/2006/main">
            <a:r>
              <a:t>https://www.news.cn/ent/20260818/75f46c22efb84f35b8ef3db85917d7f2/c.html</a:t>
            </a:r>
          </a:p>
          <a:p xmlns:a="http://schemas.openxmlformats.org/drawingml/2006/main">
            <a:r>
              <a:t>使用范围：创作者实践与反复试错成本；个案不能外推全行业。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页｜完整成本与小实验</a:t>
            </a:r>
          </a:p>
          <a:p xmlns:a="http://schemas.openxmlformats.org/drawingml/2006/main">
            <a:r>
              <a:t>建议用时：55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算账时，工具订阅和生成费用只是表面可见的一部分。写故事、筛选结果、调整角色、重新配音、剪辑和沟通，也会花时间。定制项目还可能因为修改次数和交付要求，产生原本没想到的成本。收入的规则也不同：平台分成、用户付费、品牌项目和 IP 授权，分别依赖不同的条件。我更赞成先做一个范围可控的实验，记录真实投入和反馈。比如先完成一个短篇，再看受众是否愿意回来，而不是一开始就根据某个爆款的播放量，推算自己未来的收入。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本页为演讲者观察、分析、虚构例子或建议；不作为实证结论。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页｜分发、权利与信任</a:t>
            </a:r>
          </a:p>
          <a:p xmlns:a="http://schemas.openxmlformats.org/drawingml/2006/main">
            <a:r>
              <a:t>建议用时：55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创作者还处在平台规则之中。YouTube 在二〇二五年的说明里，并没有把使用 AI 本身视为不能获利的理由，而是强调原创、有实质价值的内容，区分大量重复生产的内容。这只是一个海外案例，不能直接当作国内平台规则。TikTok 也曾公告测试让用户调整 AI 内容比例。它们说明，未来竞争可能包括观众是否愿意看、是否知道内容的生成方式，以及平台如何评价原创性。对创作者来说，理解受众、拥有清晰的内容权利和可靠的交付方式，会比仅仅掌握一个按钮更持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[S5] YouTube｜获利政策澄清（2025-07）</a:t>
            </a:r>
          </a:p>
          <a:p xmlns:a="http://schemas.openxmlformats.org/drawingml/2006/main">
            <a:r>
              <a:t>https://support.google.com/youtube/thread/356734251?hl=en&amp;msgid=357300241</a:t>
            </a:r>
          </a:p>
          <a:p xmlns:a="http://schemas.openxmlformats.org/drawingml/2006/main">
            <a:r>
              <a:t>使用范围：原创内容与批量重复内容的区别；海外平台案例。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[S9] TikTok｜AI 内容识别与偏好控制公告（2025-11-19）</a:t>
            </a:r>
          </a:p>
          <a:p xmlns:a="http://schemas.openxmlformats.org/drawingml/2006/main">
            <a:r>
              <a:t>https://newsroom.tiktok.com/more-ways-to-spot-shape-and-understand-ai-content?from_seo_redirect=1&amp;lang=en</a:t>
            </a:r>
          </a:p>
          <a:p xmlns:a="http://schemas.openxmlformats.org/drawingml/2006/main">
            <a:r>
              <a:t>使用范围：公告中的 AI 内容比例控制测试；不宣称所有用户现已可用。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页｜同质化究竟缺少什么</a:t>
            </a:r>
          </a:p>
          <a:p xmlns:a="http://schemas.openxmlformats.org/drawingml/2006/main">
            <a:r>
              <a:t>建议用时：65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回到我最在意的问题：画面可以很好看，但看多了，会发现人物只是换了名字，故事只是换了地方。复仇、恋爱这些题材本身没有问题，它们一直能承载深刻的作品。问题在于，如果人物只负责触发冲突和兑现情绪，故事就很难留下更具体的东西。一个人为什么这样选择，他会失去什么，他和别人之间有哪些无法简单解决的关系，这些问题常常比新的画面更有力量。同质化既与生成方式有关，也与输入素材、商业激励和创作者的选择有关。我们要追求的创新，未必是从未出现过的题材，也可以是熟悉题材中新的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本页为演讲者观察、分析、虚构例子或建议；不作为实证结论。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页｜AI 创意能力与人的判断</a:t>
            </a:r>
          </a:p>
          <a:p xmlns:a="http://schemas.openxmlformats.org/drawingml/2006/main">
            <a:r>
              <a:t>建议用时：65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我理解把创新看成人的重要优势的直觉，但如果把它说成 AI 完全做不到，论证就容易过头。Doshi 和 Hauser 的短篇故事实验发现，AI 提供的想法可以提高个体作品的评价，同时，AI 辅助作品之间也更相似。这个结果只适用于特定任务，不能直接推广到所有艺术创作。它给我的启发是：可以让 AI 帮助发散，但我们仍要决定什么问题值得提出，哪一种表达真正贴近生活，以及自己为什么接受这个结果。人的价值不必建立在证明机器永远做不到某件事上，也可以建立在持续观察、选择和负责的过程里。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[S6] Doshi &amp; Hauser｜Generative AI enhances individual creativity…（Science Advances, 2024）</a:t>
            </a:r>
          </a:p>
          <a:p xmlns:a="http://schemas.openxmlformats.org/drawingml/2006/main">
            <a:r>
              <a:t>https://doi.org/10.1126/sciadv.adn5290</a:t>
            </a:r>
          </a:p>
          <a:p xmlns:a="http://schemas.openxmlformats.org/drawingml/2006/main">
            <a:r>
              <a:t>作者版本：https://arxiv.org/abs/2312.00506</a:t>
            </a:r>
          </a:p>
          <a:p xmlns:a="http://schemas.openxmlformats.org/drawingml/2006/main">
            <a:r>
              <a:t>使用范围：短篇故事实验：个体评价提高与作品间相似性同时出现。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页｜注意力的研究与边界</a:t>
            </a:r>
          </a:p>
          <a:p xmlns:a="http://schemas.openxmlformats.org/drawingml/2006/main">
            <a:r>
              <a:t>建议用时：70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担心短视频占据越来越多时间，会让人更难投入一件事情，也更容易忽略身边细节。研究可以帮助我们准确表达这个担心。二〇二五年的一项元分析汇总了七十一项研究、九万八千二百九十九名参与者，发现更多短视频使用与较差的注意力等认知指标存在关联。但这不能证明只要刷短视频就必然造成永久损伤，也不能排除本来就难以集中注意力的人更愿意频繁使用短视频。对我的观点来说，已经足够值得追问的是：一天有限的时间被怎样使用？在持续切换内容之后，我是否还保留了阅读、深入工作和认真观察的空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[S7] Nguyen 等｜Feeds, Feelings, and Focus（Psychological Bulletin, 2025）</a:t>
            </a:r>
          </a:p>
          <a:p xmlns:a="http://schemas.openxmlformats.org/drawingml/2006/main">
            <a:r>
              <a:t>https://doi.org/10.1037/bul0000498</a:t>
            </a:r>
          </a:p>
          <a:p xmlns:a="http://schemas.openxmlformats.org/drawingml/2006/main">
            <a:r>
              <a:t>使用范围：71 项研究、98,299 名参与者；短视频使用与认知等指标的相关性。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页｜输入与灵感的关系</a:t>
            </a:r>
          </a:p>
          <a:p xmlns:a="http://schemas.openxmlformats.org/drawingml/2006/main">
            <a:r>
              <a:t>建议用时：65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灵感，我想提出一个有条件的判断，而不是把它冒充成已经被直接证明的事实。如果一个人长期只接触相似的情节和情绪模式，他可调用的材料就可能越来越集中在这些模式里。短视频可以带来新知识和陌生经验，长内容也可能重复空洞，所以问题不能简单归结为长和短。更关键的是输入的多样性，以及我们有没有停下来理解和反思。读一本书、听朋友讲一件具体的事、认真完成一次工作，甚至注意到一个不起眼的动作，都可能给创作带来新材料。保留这些空间，是我认为值得主动做出的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本页为演讲者观察、分析、虚构例子或建议；不作为实证结论。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页｜把模板变成具体的问题</a:t>
            </a:r>
          </a:p>
          <a:p xmlns:a="http://schemas.openxmlformats.org/drawingml/2006/main">
            <a:r>
              <a:t>建议用时：65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举一个很简单的虚构例子。一个人受到侮辱，后来获得力量，最后成功反击，这当然可以是一个成立的故事。但如果我们再问一步：他终于能够复仇，却发现行动会伤害一个无辜的人，那故事的重心就变化了。观众开始关心他怎么选择，而不仅仅关心反击有多痛快。继续往下，还可以加入他的工作、家庭、语言和习惯，让这种选择发生在一个具体的人身上。这个例子并不是说所有作品都必须沉重，而是想说明，故事深度来自问题被认真对待。AI 可以协助呈现，但创作者需要决定自己想把观众的注意力带向哪里。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本页为演讲者观察、分析、虚构例子或建议；不作为实证结论。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页｜一个可以开始的创作实验</a:t>
            </a:r>
          </a:p>
          <a:p xmlns:a="http://schemas.openxmlformats.org/drawingml/2006/main">
            <a:r>
              <a:t>建议用时：65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如果我准备尝试 AI 创作，会从一个很小的实验开始。先记录生活里真正注意到的细节，再提一个自己在意的问题。例如，一个人为什么在明明可以拒绝的时候仍然答应？然后让 AI 提供几种表达方式，看看它有没有打开我原本没想到的方向。选择的时候，要能说出自己为什么选它，而不是因为画面最华丽。最后，把作品给少量真实观众看，问他们记住了什么、哪里没有理解、是否愿意再看一篇。这样的反馈能帮助我们判断，作品有没有建立自己的表达，而不仅是复制一个容易获得点击的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本页为演讲者观察、分析、虚构例子或建议；不作为实证结论。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页｜最后的判断与讨论</a:t>
            </a:r>
          </a:p>
          <a:p xmlns:a="http://schemas.openxmlformats.org/drawingml/2006/main">
            <a:r>
              <a:t>建议用时：65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最后，我并不想把 AI 短视频简单判断为好或坏。它可以让更多人参与创作，可以让小众故事拥有影像，也可能把成熟套路生产得更快，把注意力争夺得更细。对创作者来说，我更看重有价值的观察、清晰的问题和对作品负责的判断。对观看者来说，我希望保留主动选择的能力，让娱乐之外仍有阅读、实践、交谈和注意生活的时间。我的判断是：技术扩大了我们表达的可能，但它不会替我们决定什么值得表达。留给大家的问题是，我们希望这些工具主要带来更多相似的满足，还是也能带来更多新的理解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本页为演讲者观察、分析、虚构例子或建议；不作为实证结论。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页｜资料附录 A</a:t>
            </a:r>
          </a:p>
          <a:p xmlns:a="http://schemas.openxmlformats.org/drawingml/2006/main">
            <a:r>
              <a:t>建议用时：0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本页用于问答和资料回查。产业报告提供特定口径下的观察，创作者访谈帮助理解生产过程，平台公告说明具体平台当时的规则或测试。三类材料都不能单独证明 AI 短剧导致原本不看短视频的人普遍沉迷。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[S1] QuestMobile｜2026 短剧行业洞察报告（2026-04-08）</a:t>
            </a:r>
          </a:p>
          <a:p xmlns:a="http://schemas.openxmlformats.org/drawingml/2006/main">
            <a:r>
              <a:t>https://www.questmobile.cn/research/report/2041710682848727041/</a:t>
            </a:r>
          </a:p>
          <a:p xmlns:a="http://schemas.openxmlformats.org/drawingml/2006/main">
            <a:r>
              <a:t>使用范围：用户规模、应用迁移与观看行为；报告口径不等于 AI 短剧总体。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Cao 等｜Audience in the Loop（2026）</a:t>
            </a:r>
          </a:p>
          <a:p xmlns:a="http://schemas.openxmlformats.org/drawingml/2006/main">
            <a:r>
              <a:t>https://arxiv.org/abs/2602.14045</a:t>
            </a:r>
          </a:p>
          <a:p xmlns:a="http://schemas.openxmlformats.org/drawingml/2006/main">
            <a:r>
              <a:t>使用范围：28 名微短剧编剧的访谈；反馈如何进入创作。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科技日报／新华网｜AI 漫剧产业报道（2026-03-20）</a:t>
            </a:r>
          </a:p>
          <a:p xmlns:a="http://schemas.openxmlformats.org/drawingml/2006/main">
            <a:r>
              <a:t>https://www.news.cn/tech/20260320/f6fa062b5353475bb52dfc1ca31e1ccd/c.html</a:t>
            </a:r>
          </a:p>
          <a:p xmlns:a="http://schemas.openxmlformats.org/drawingml/2006/main">
            <a:r>
              <a:t>使用范围：平台工具、扶持与产业链；行业报道，不是收益保证。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[S4] 光明日报／新华网｜AI 创作实践报道（2026-08-18）</a:t>
            </a:r>
          </a:p>
          <a:p xmlns:a="http://schemas.openxmlformats.org/drawingml/2006/main">
            <a:r>
              <a:t>https://www.news.cn/ent/20260818/75f46c22efb84f35b8ef3db85917d7f2/c.html</a:t>
            </a:r>
          </a:p>
          <a:p xmlns:a="http://schemas.openxmlformats.org/drawingml/2006/main">
            <a:r>
              <a:t>使用范围：创作者实践与反复试错成本；个案不能外推全行业。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[S5] YouTube｜获利政策澄清（2025-07）</a:t>
            </a:r>
          </a:p>
          <a:p xmlns:a="http://schemas.openxmlformats.org/drawingml/2006/main">
            <a:r>
              <a:t>https://support.google.com/youtube/thread/356734251?hl=en&amp;msgid=357300241</a:t>
            </a:r>
          </a:p>
          <a:p xmlns:a="http://schemas.openxmlformats.org/drawingml/2006/main">
            <a:r>
              <a:t>使用范围：原创内容与批量重复内容的区别；海外平台案例。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[S9] TikTok｜AI 内容识别与偏好控制公告（2025-11-19）</a:t>
            </a:r>
          </a:p>
          <a:p xmlns:a="http://schemas.openxmlformats.org/drawingml/2006/main">
            <a:r>
              <a:t>https://newsroom.tiktok.com/more-ways-to-spot-shape-and-understand-ai-content?from_seo_redirect=1&amp;lang=en</a:t>
            </a:r>
          </a:p>
          <a:p xmlns:a="http://schemas.openxmlformats.org/drawingml/2006/main">
            <a:r>
              <a:t>使用范围：公告中的 AI 内容比例控制测试；不宣称所有用户现已可用。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页｜资料附录 B</a:t>
            </a:r>
          </a:p>
          <a:p xmlns:a="http://schemas.openxmlformats.org/drawingml/2006/main">
            <a:r>
              <a:t>建议用时：0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本页用于现场核对证据边界。创意研究和注意力研究都不能代替对具体作品、具体人和具体使用情境的判断。未来的互动短剧属于有条件的推演，技术展示本身不足以证明商业可行性。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资料与边界：</a:t>
            </a:r>
          </a:p>
          <a:p xmlns:a="http://schemas.openxmlformats.org/drawingml/2006/main">
            <a:r>
              <a:t>[S6] Doshi &amp; Hauser｜Generative AI enhances individual creativity…（Science Advances, 2024）</a:t>
            </a:r>
          </a:p>
          <a:p xmlns:a="http://schemas.openxmlformats.org/drawingml/2006/main">
            <a:r>
              <a:t>https://doi.org/10.1126/sciadv.adn5290</a:t>
            </a:r>
          </a:p>
          <a:p xmlns:a="http://schemas.openxmlformats.org/drawingml/2006/main">
            <a:r>
              <a:t>作者版本：https://arxiv.org/abs/2312.00506</a:t>
            </a:r>
          </a:p>
          <a:p xmlns:a="http://schemas.openxmlformats.org/drawingml/2006/main">
            <a:r>
              <a:t>使用范围：短篇故事实验：个体评价提高与作品间相似性同时出现。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[S7] Nguyen 等｜Feeds, Feelings, and Focus（Psychological Bulletin, 2025）</a:t>
            </a:r>
          </a:p>
          <a:p xmlns:a="http://schemas.openxmlformats.org/drawingml/2006/main">
            <a:r>
              <a:t>https://doi.org/10.1037/bul0000498</a:t>
            </a:r>
          </a:p>
          <a:p xmlns:a="http://schemas.openxmlformats.org/drawingml/2006/main">
            <a:r>
              <a:t>使用范围：71 项研究、98,299 名参与者；短视频使用与认知等指标的相关性。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[S8] Google DeepMind｜Genie 3 技术展示（2025-08-05）</a:t>
            </a:r>
          </a:p>
          <a:p xmlns:a="http://schemas.openxmlformats.org/drawingml/2006/main">
            <a:r>
              <a:t>https://deepmind.google/blog/genie-3-a-new-frontier-for-world-models/</a:t>
            </a:r>
          </a:p>
          <a:p xmlns:a="http://schemas.openxmlformats.org/drawingml/2006/main">
            <a:r>
              <a:t>使用范围：交互式生成世界的技术探索；不代表成熟的实时个性化长剧情。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资料核对截至 2026-10-19。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2ef2f8db946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1a9211d2b4c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1c5f01b7245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25ddd5fec940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03aeb0a2848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9d8fde4ba42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E7BE05-7E77-4466-AA5C-2A61833804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D589A8-AB8D-40BC-A8A8-FDC41B141A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1B2280-5C90-468A-955A-9B1AA5AF92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AD7DF3-53D2-4B7E-93D8-5F562F4410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280D9D-F45A-4925-8170-4BFDB4A82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8141CA-A950-42DE-957F-B20CFDC9DC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966BD9-F93E-4C50-A3EF-7F4A0F6E74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6E3D12-8179-4EF1-BC29-1346357E94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91ADB7-51FB-4238-BBF0-94CED409D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8D87C9-87A2-40DB-B35B-EC8DC24AA4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38d9d1b7fe40b9" /><Relationship Type="http://schemas.openxmlformats.org/officeDocument/2006/relationships/slideLayout" Target="/ppt/slideLayouts/slideLayout1.xml" Id="Rc2914150ad3540fa" /><Relationship Type="http://schemas.openxmlformats.org/officeDocument/2006/relationships/slideLayout" Target="/ppt/slideLayouts/slideLayout2.xml" Id="Rffe72d9355cf4e0e" /><Relationship Type="http://schemas.openxmlformats.org/officeDocument/2006/relationships/slideLayout" Target="/ppt/slideLayouts/slideLayout3.xml" Id="R3d72dc7cf7734e6f" /><Relationship Type="http://schemas.openxmlformats.org/officeDocument/2006/relationships/slideLayout" Target="/ppt/slideLayouts/slideLayout4.xml" Id="R92317fdfb6cf4b6f" /><Relationship Type="http://schemas.openxmlformats.org/officeDocument/2006/relationships/slideLayout" Target="/ppt/slideLayouts/slideLayout5.xml" Id="Rc572787200c14a1c" /><Relationship Type="http://schemas.openxmlformats.org/officeDocument/2006/relationships/slideLayout" Target="/ppt/slideLayouts/slideLayout6.xml" Id="Rc3d37ad934c840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914150ad3540fa"/>
    <p:sldLayoutId xmlns:r="http://schemas.openxmlformats.org/officeDocument/2006/relationships" id="2147483650" r:id="Rffe72d9355cf4e0e"/>
    <p:sldLayoutId xmlns:r="http://schemas.openxmlformats.org/officeDocument/2006/relationships" id="2147483651" r:id="R3d72dc7cf7734e6f"/>
    <p:sldLayoutId xmlns:r="http://schemas.openxmlformats.org/officeDocument/2006/relationships" id="2147483652" r:id="R92317fdfb6cf4b6f"/>
    <p:sldLayoutId xmlns:r="http://schemas.openxmlformats.org/officeDocument/2006/relationships" id="2147483653" r:id="Rc572787200c14a1c"/>
    <p:sldLayoutId xmlns:r="http://schemas.openxmlformats.org/officeDocument/2006/relationships" id="2147483654" r:id="Rc3d37ad934c840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059249ddb44bbe" /><Relationship Type="http://schemas.openxmlformats.org/officeDocument/2006/relationships/image" Target="/ppt/media/image.png" Id="Raaf11fbf38034496" /><Relationship Type="http://schemas.openxmlformats.org/officeDocument/2006/relationships/notesSlide" Target="/ppt/notesSlides/notesSlide1.xml" Id="R4741de99edd344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19172865e4ad8" /><Relationship Type="http://schemas.openxmlformats.org/officeDocument/2006/relationships/image" Target="/ppt/media/image2.png" Id="R344a057bba814943" /><Relationship Type="http://schemas.openxmlformats.org/officeDocument/2006/relationships/notesSlide" Target="/ppt/notesSlides/notesSlide2.xml" Id="R084657e3e6d547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13bfe116047fd" /><Relationship Type="http://schemas.openxmlformats.org/officeDocument/2006/relationships/notesSlide" Target="/ppt/notesSlides/notesSlide3.xml" Id="R5e3cc8a034b94c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2bf971f32a47cc" /><Relationship Type="http://schemas.openxmlformats.org/officeDocument/2006/relationships/notesSlide" Target="/ppt/notesSlides/notesSlide4.xml" Id="R3b184febdfed4f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f313d7efb44c3" /><Relationship Type="http://schemas.openxmlformats.org/officeDocument/2006/relationships/notesSlide" Target="/ppt/notesSlides/notesSlide5.xml" Id="R3e46dac79d6448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e0a359aa9846b4" /><Relationship Type="http://schemas.openxmlformats.org/officeDocument/2006/relationships/notesSlide" Target="/ppt/notesSlides/notesSlide6.xml" Id="Re817c4b8f51f44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78d72cbcc4ee1" /><Relationship Type="http://schemas.openxmlformats.org/officeDocument/2006/relationships/image" Target="/ppt/media/image3.png" Id="R2ef87c4a2e7e497e" /><Relationship Type="http://schemas.openxmlformats.org/officeDocument/2006/relationships/notesSlide" Target="/ppt/notesSlides/notesSlide7.xml" Id="Rebb10f0930564a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c85dda4a34991" /><Relationship Type="http://schemas.openxmlformats.org/officeDocument/2006/relationships/notesSlide" Target="/ppt/notesSlides/notesSlide8.xml" Id="R849af54c87fd4e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a31e24c344acd" /><Relationship Type="http://schemas.openxmlformats.org/officeDocument/2006/relationships/notesSlide" Target="/ppt/notesSlides/notesSlide9.xml" Id="R0a44a63373984c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3c0269b914a2c" /><Relationship Type="http://schemas.openxmlformats.org/officeDocument/2006/relationships/notesSlide" Target="/ppt/notesSlides/notesSlide10.xml" Id="Rc01c9284295f4c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e15b463914bab" /><Relationship Type="http://schemas.openxmlformats.org/officeDocument/2006/relationships/notesSlide" Target="/ppt/notesSlides/notesSlide11.xml" Id="R14d4e6423d2546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76b78e8ce4013" /><Relationship Type="http://schemas.openxmlformats.org/officeDocument/2006/relationships/image" Target="/ppt/media/image4.png" Id="R1846871bc7c34ae2" /><Relationship Type="http://schemas.openxmlformats.org/officeDocument/2006/relationships/notesSlide" Target="/ppt/notesSlides/notesSlide12.xml" Id="R1f0c08fb6ce043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af39b3b87426c" /><Relationship Type="http://schemas.openxmlformats.org/officeDocument/2006/relationships/notesSlide" Target="/ppt/notesSlides/notesSlide13.xml" Id="R2ddc6c092b984a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54790750344d8" /><Relationship Type="http://schemas.openxmlformats.org/officeDocument/2006/relationships/image" Target="/ppt/media/image5.png" Id="Rc25ab292b82a4642" /><Relationship Type="http://schemas.openxmlformats.org/officeDocument/2006/relationships/notesSlide" Target="/ppt/notesSlides/notesSlide14.xml" Id="Rc4126b7d5e864d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24db6d17b44f6" /><Relationship Type="http://schemas.openxmlformats.org/officeDocument/2006/relationships/notesSlide" Target="/ppt/notesSlides/notesSlide15.xml" Id="R578393492b7643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8b12f5a3b4cc2" /><Relationship Type="http://schemas.openxmlformats.org/officeDocument/2006/relationships/notesSlide" Target="/ppt/notesSlides/notesSlide16.xml" Id="R1da4fea6057440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a094598ac486f" /><Relationship Type="http://schemas.openxmlformats.org/officeDocument/2006/relationships/image" Target="/ppt/media/image6.png" Id="R8f6dc819e39b4ad2" /><Relationship Type="http://schemas.openxmlformats.org/officeDocument/2006/relationships/notesSlide" Target="/ppt/notesSlides/notesSlide17.xml" Id="Rda23aeda93e049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744f84d2c747a5" /><Relationship Type="http://schemas.openxmlformats.org/officeDocument/2006/relationships/image" Target="/ppt/media/image7.png" Id="R3738464ca51e4372" /><Relationship Type="http://schemas.openxmlformats.org/officeDocument/2006/relationships/notesSlide" Target="/ppt/notesSlides/notesSlide18.xml" Id="R7905178299a747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eba919e5be4f7e" /><Relationship Type="http://schemas.openxmlformats.org/officeDocument/2006/relationships/notesSlide" Target="/ppt/notesSlides/notesSlide19.xml" Id="R3fc39d6002a24a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613a83e1c4c4c" /><Relationship Type="http://schemas.openxmlformats.org/officeDocument/2006/relationships/notesSlide" Target="/ppt/notesSlides/notesSlide20.xml" Id="R3c66f696c17446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EF0C1-C186-4AB0-B396-4AD79F9A4B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11fbf380344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一个关于创作与观看的讨论">
            <a:extLst xmlns:a="http://schemas.openxmlformats.org/drawingml/2006/main">
              <a:ext uri="{FF2B5EF4-FFF2-40B4-BE49-F238E27FC236}">
                <a16:creationId xmlns:a16="http://schemas.microsoft.com/office/drawing/2014/main" id="{2A65ABF4-B266-4C4D-9DA7-C2D5D12A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一个关于创作与观看的讨论</a:t>
            </a:r>
          </a:p>
        </p:txBody>
      </p:sp>
      <p:sp>
        <p:nvSpPr>
          <p:cNvPr id="3" name="AI 短视频&#10;的未来">
            <a:extLst xmlns:a="http://schemas.openxmlformats.org/drawingml/2006/main">
              <a:ext uri="{FF2B5EF4-FFF2-40B4-BE49-F238E27FC236}">
                <a16:creationId xmlns:a16="http://schemas.microsoft.com/office/drawing/2014/main" id="{C52AB8D2-9E0C-4E5B-8EA9-DE1F7DE5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短视频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的未来</a:t>
            </a:r>
          </a:p>
        </p:txBody>
      </p:sp>
      <p:sp>
        <p:nvSpPr>
          <p:cNvPr id="4" name="观点演讲 · 约 18 分钟 · 资料截至 202">
            <a:extLst xmlns:a="http://schemas.openxmlformats.org/drawingml/2006/main">
              <a:ext uri="{FF2B5EF4-FFF2-40B4-BE49-F238E27FC236}">
                <a16:creationId xmlns:a16="http://schemas.microsoft.com/office/drawing/2014/main" id="{376D92DA-49AF-4C51-B810-053818FB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观点演讲 · 约 18 分钟 · 资料截至 2026.10.19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1CA4142D-36BC-4717-9300-105F568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AI 概念示意">
            <a:extLst xmlns:a="http://schemas.openxmlformats.org/drawingml/2006/main">
              <a:ext uri="{FF2B5EF4-FFF2-40B4-BE49-F238E27FC236}">
                <a16:creationId xmlns:a16="http://schemas.microsoft.com/office/drawing/2014/main" id="{0D27A1E1-A182-40B4-A562-DB37D8C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AI 概念示意</a:t>
            </a:r>
          </a:p>
        </p:txBody>
      </p:sp>
      <p:sp>
        <p:nvSpPr>
          <p:cNvPr id="7" name="创新、注意力与创作机会">
            <a:extLst xmlns:a="http://schemas.openxmlformats.org/drawingml/2006/main">
              <a:ext uri="{FF2B5EF4-FFF2-40B4-BE49-F238E27FC236}">
                <a16:creationId xmlns:a16="http://schemas.microsoft.com/office/drawing/2014/main" id="{DCCB51BD-9717-4CCB-9C65-2286F82A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创新、注意力与创作机会</a:t>
            </a:r>
          </a:p>
        </p:txBody>
      </p:sp>
      <p:sp>
        <p:nvSpPr>
          <p:cNvPr id="8" name="当画面越来越容易生成，&#10;什么让一个故事值得被讲述？">
            <a:extLst xmlns:a="http://schemas.openxmlformats.org/drawingml/2006/main">
              <a:ext uri="{FF2B5EF4-FFF2-40B4-BE49-F238E27FC236}">
                <a16:creationId xmlns:a16="http://schemas.microsoft.com/office/drawing/2014/main" id="{E333F682-B7C1-4105-BBCF-D3F8C66A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当画面越来越容易生成，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什么让一个故事值得被讲述？</a:t>
            </a:r>
          </a:p>
        </p:txBody>
      </p:sp>
    </p:spTree>
    <p:extLst>
      <p:ext uri="{BB962C8B-B14F-4D97-AF65-F5344CB8AC3E}">
        <p14:creationId xmlns:p14="http://schemas.microsoft.com/office/powerpoint/2010/main" val="475881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F3091-E542-4270-87E7-7319C4AC9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a057bba81494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1 / 从身边的观察开始">
            <a:extLst xmlns:a="http://schemas.openxmlformats.org/drawingml/2006/main">
              <a:ext uri="{FF2B5EF4-FFF2-40B4-BE49-F238E27FC236}">
                <a16:creationId xmlns:a16="http://schemas.microsoft.com/office/drawing/2014/main" id="{87471E13-8DE0-40C8-8898-745E1E56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01 / 从身边的观察开始</a:t>
            </a:r>
          </a:p>
        </p:txBody>
      </p:sp>
      <p:sp>
        <p:nvSpPr>
          <p:cNvPr id="3" name="他们追的，&#10;只是 AI 画面吗？">
            <a:extLst xmlns:a="http://schemas.openxmlformats.org/drawingml/2006/main">
              <a:ext uri="{FF2B5EF4-FFF2-40B4-BE49-F238E27FC236}">
                <a16:creationId xmlns:a16="http://schemas.microsoft.com/office/drawing/2014/main" id="{FC1D5FD2-8D8B-4613-B69A-179B5AAF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他们追的，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只是 AI 画面吗？</a:t>
            </a:r>
          </a:p>
        </p:txBody>
      </p:sp>
      <p:sp>
        <p:nvSpPr>
          <p:cNvPr id="4" name="个人观察，不代表总体用户变化">
            <a:extLst xmlns:a="http://schemas.openxmlformats.org/drawingml/2006/main">
              <a:ext uri="{FF2B5EF4-FFF2-40B4-BE49-F238E27FC236}">
                <a16:creationId xmlns:a16="http://schemas.microsoft.com/office/drawing/2014/main" id="{7BC7BB8E-7467-40C3-A5DF-DA6AA226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个人观察，不代表总体用户变化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A3BC5CCF-492B-4855-AF2D-EFEF4D75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AI 概念示意">
            <a:extLst xmlns:a="http://schemas.openxmlformats.org/drawingml/2006/main">
              <a:ext uri="{FF2B5EF4-FFF2-40B4-BE49-F238E27FC236}">
                <a16:creationId xmlns:a16="http://schemas.microsoft.com/office/drawing/2014/main" id="{2741B8AA-238B-4C6B-AE65-E1B21D7F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AI 概念示意</a:t>
            </a:r>
          </a:p>
        </p:txBody>
      </p:sp>
      <p:sp>
        <p:nvSpPr>
          <p:cNvPr id="7" name="“原本不常刷短视频的人，&#10;也开始不停地看 AI 短">
            <a:extLst xmlns:a="http://schemas.openxmlformats.org/drawingml/2006/main">
              <a:ext uri="{FF2B5EF4-FFF2-40B4-BE49-F238E27FC236}">
                <a16:creationId xmlns:a16="http://schemas.microsoft.com/office/drawing/2014/main" id="{97FA6DDF-F109-4FA2-B417-12CF1FE2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“原本不常刷短视频的人，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也开始不停地看 AI 短剧。”</a:t>
            </a:r>
          </a:p>
        </p:txBody>
      </p:sp>
      <p:sp>
        <p:nvSpPr>
          <p:cNvPr id="8" name="进入故事的理由，&#10;可能比制作技术更重要。">
            <a:extLst xmlns:a="http://schemas.openxmlformats.org/drawingml/2006/main">
              <a:ext uri="{FF2B5EF4-FFF2-40B4-BE49-F238E27FC236}">
                <a16:creationId xmlns:a16="http://schemas.microsoft.com/office/drawing/2014/main" id="{91081FBA-D31E-4C9E-937E-DCD00FA1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进入故事的理由，</a:t>
            </a:r>
          </a:p>
          <a:p xmlns:a="http://schemas.openxmlformats.org/drawingml/2006/main">
            <a:pPr>
              <a:def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可能比制作技术更重要。</a:t>
            </a:r>
          </a:p>
        </p:txBody>
      </p:sp>
    </p:spTree>
    <p:extLst>
      <p:ext uri="{BB962C8B-B14F-4D97-AF65-F5344CB8AC3E}">
        <p14:creationId xmlns:p14="http://schemas.microsoft.com/office/powerpoint/2010/main" val="39423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 / 口径与证据">
            <a:extLst xmlns:a="http://schemas.openxmlformats.org/drawingml/2006/main">
              <a:ext uri="{FF2B5EF4-FFF2-40B4-BE49-F238E27FC236}">
                <a16:creationId xmlns:a16="http://schemas.microsoft.com/office/drawing/2014/main" id="{37013E83-0EBB-4B9A-B5B0-643053F1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01 / 口径与证据</a:t>
            </a:r>
          </a:p>
        </p:txBody>
      </p:sp>
      <p:sp>
        <p:nvSpPr>
          <p:cNvPr id="2" name="先分清：火的是哪一种内容？">
            <a:extLst xmlns:a="http://schemas.openxmlformats.org/drawingml/2006/main">
              <a:ext uri="{FF2B5EF4-FFF2-40B4-BE49-F238E27FC236}">
                <a16:creationId xmlns:a16="http://schemas.microsoft.com/office/drawing/2014/main" id="{BE7F43B5-AC03-4789-B151-22123B7E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先分清：火的是哪一种内容？</a:t>
            </a:r>
          </a:p>
        </p:txBody>
      </p:sp>
      <p:sp>
        <p:nvSpPr>
          <p:cNvPr id="3" name="AI 短视频是更大范围；AI 短剧是其中以连续叙事">
            <a:extLst xmlns:a="http://schemas.openxmlformats.org/drawingml/2006/main">
              <a:ext uri="{FF2B5EF4-FFF2-40B4-BE49-F238E27FC236}">
                <a16:creationId xmlns:a16="http://schemas.microsoft.com/office/drawing/2014/main" id="{9E23356A-0AEA-439E-8037-D8E2DDCE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AI 短视频是更大范围；AI 短剧是其中以连续叙事为核心的一部分。</a:t>
            </a:r>
          </a:p>
        </p:txBody>
      </p:sp>
      <p:sp>
        <p:nvSpPr>
          <p:cNvPr id="4" name="行业口径参考 [S1] QuestMobile，2">
            <a:extLst xmlns:a="http://schemas.openxmlformats.org/drawingml/2006/main">
              <a:ext uri="{FF2B5EF4-FFF2-40B4-BE49-F238E27FC236}">
                <a16:creationId xmlns:a16="http://schemas.microsoft.com/office/drawing/2014/main" id="{F3AB0BD7-D365-4EB8-81E2-05FF14B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行业口径参考 [S1] QuestMobile，2026；本页为概念区分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F3CF6D67-DB5A-411E-96DA-703A5EC9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C9540-F524-4438-8DB0-8D06758888FF}"/>
              </a:ext>
            </a:extLst>
          </p:cNvPr>
          <p:cNvGraphicFramePr/>
          <p:nvPr/>
        </p:nvGraphicFramePr>
        <p:xfrm>
          <a:off xmlns:a="http://schemas.openxmlformats.org/drawingml/2006/main" x="666750" y="2524125"/>
          <a:ext xmlns:a="http://schemas.openxmlformats.org/drawingml/2006/main" cx="10858500" cy="2981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4238625"/>
                <a:gridCol w="4143375"/>
              </a:tblGrid>
              <a:tr h="5905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这里的意思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不能直接等同于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</a:tr>
              <a:tr h="796925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短视频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参与生成或制作的短视频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所有内容都有完整剧情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短剧／漫剧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连续故事；AI 参与程度不同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每个环节都由 AI 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</a:tr>
              <a:tr h="796925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播放量／用户／收益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三类不同的观察指标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看得多 = 喜欢久 = 能盈利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短剧行业总量，也不能当成 AI 短剧的规模。">
            <a:extLst xmlns:a="http://schemas.openxmlformats.org/drawingml/2006/main">
              <a:ext uri="{FF2B5EF4-FFF2-40B4-BE49-F238E27FC236}">
                <a16:creationId xmlns:a16="http://schemas.microsoft.com/office/drawing/2014/main" id="{769FD0ED-B82E-4346-9AE2-4BACC44D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短剧行业总量，也不能当成 AI 短剧的规模。</a:t>
            </a:r>
          </a:p>
        </p:txBody>
      </p:sp>
    </p:spTree>
    <p:extLst>
      <p:ext uri="{BB962C8B-B14F-4D97-AF65-F5344CB8AC3E}">
        <p14:creationId xmlns:p14="http://schemas.microsoft.com/office/powerpoint/2010/main" val="7634120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1 / 为什么会一直看">
            <a:extLst xmlns:a="http://schemas.openxmlformats.org/drawingml/2006/main">
              <a:ext uri="{FF2B5EF4-FFF2-40B4-BE49-F238E27FC236}">
                <a16:creationId xmlns:a16="http://schemas.microsoft.com/office/drawing/2014/main" id="{DAF6618D-0FCE-4191-AC20-7BC56C0B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01 / 为什么会一直看</a:t>
            </a:r>
          </a:p>
        </p:txBody>
      </p:sp>
      <p:sp>
        <p:nvSpPr>
          <p:cNvPr id="2" name="吸引力来自故事、入口和连续期待">
            <a:extLst xmlns:a="http://schemas.openxmlformats.org/drawingml/2006/main">
              <a:ext uri="{FF2B5EF4-FFF2-40B4-BE49-F238E27FC236}">
                <a16:creationId xmlns:a16="http://schemas.microsoft.com/office/drawing/2014/main" id="{70A3FDFF-5B76-4CCD-86C5-9B5C9988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吸引力来自故事、入口和连续期待</a:t>
            </a:r>
          </a:p>
        </p:txBody>
      </p:sp>
      <p:sp>
        <p:nvSpPr>
          <p:cNvPr id="3" name="这是解释观看行为的分析框架，不是对每位观众的心理诊">
            <a:extLst xmlns:a="http://schemas.openxmlformats.org/drawingml/2006/main">
              <a:ext uri="{FF2B5EF4-FFF2-40B4-BE49-F238E27FC236}">
                <a16:creationId xmlns:a16="http://schemas.microsoft.com/office/drawing/2014/main" id="{B893475D-3E10-4899-965C-E62EC41B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这是解释观看行为的分析框架，不是对每位观众的心理诊断。</a:t>
            </a:r>
          </a:p>
        </p:txBody>
      </p:sp>
      <p:sp>
        <p:nvSpPr>
          <p:cNvPr id="4" name="分析依据：[S1] 行业用户观察；[S2] 微短剧">
            <a:extLst xmlns:a="http://schemas.openxmlformats.org/drawingml/2006/main">
              <a:ext uri="{FF2B5EF4-FFF2-40B4-BE49-F238E27FC236}">
                <a16:creationId xmlns:a16="http://schemas.microsoft.com/office/drawing/2014/main" id="{43E8D268-070E-4BE9-945E-4D7E10D8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分析依据：[S1] 行业用户观察；[S2] 微短剧创作者访谈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2CFFCFE0-D8CF-4211-8CA3-70F18189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9A0AD370-0F14-4FBD-B814-EBDB6A2C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容易进入">
            <a:extLst xmlns:a="http://schemas.openxmlformats.org/drawingml/2006/main">
              <a:ext uri="{FF2B5EF4-FFF2-40B4-BE49-F238E27FC236}">
                <a16:creationId xmlns:a16="http://schemas.microsoft.com/office/drawing/2014/main" id="{A0CC6076-2019-44D0-84ED-00C3CB23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容易进入</a:t>
            </a:r>
          </a:p>
        </p:txBody>
      </p:sp>
      <p:sp>
        <p:nvSpPr>
          <p:cNvPr id="8" name="熟悉的题材与冲突&#10;降低理解故事的成本">
            <a:extLst xmlns:a="http://schemas.openxmlformats.org/drawingml/2006/main">
              <a:ext uri="{FF2B5EF4-FFF2-40B4-BE49-F238E27FC236}">
                <a16:creationId xmlns:a16="http://schemas.microsoft.com/office/drawing/2014/main" id="{0DD88D8D-AE38-465B-A900-25A1456E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熟悉的题材与冲突</a:t>
            </a:r>
          </a:p>
          <a:p xmlns:a="http://schemas.openxmlformats.org/drawingml/2006/main">
            <a: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降低理解故事的成本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BEBD7EEC-F0E6-44C5-A4B5-09E20038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容易遇见">
            <a:extLst xmlns:a="http://schemas.openxmlformats.org/drawingml/2006/main">
              <a:ext uri="{FF2B5EF4-FFF2-40B4-BE49-F238E27FC236}">
                <a16:creationId xmlns:a16="http://schemas.microsoft.com/office/drawing/2014/main" id="{016A601E-EE50-44B7-B9CC-92017814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671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容易遇见</a:t>
            </a:r>
          </a:p>
        </p:txBody>
      </p:sp>
      <p:sp>
        <p:nvSpPr>
          <p:cNvPr id="11" name="推荐、推广与平台迁移&#10;让内容进入更多人视野">
            <a:extLst xmlns:a="http://schemas.openxmlformats.org/drawingml/2006/main">
              <a:ext uri="{FF2B5EF4-FFF2-40B4-BE49-F238E27FC236}">
                <a16:creationId xmlns:a16="http://schemas.microsoft.com/office/drawing/2014/main" id="{E150AEED-6E7A-443A-9CCF-45C1355E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10075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推荐、推广与平台迁移</a:t>
            </a:r>
          </a:p>
          <a:p xmlns:a="http://schemas.openxmlformats.org/drawingml/2006/main">
            <a: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让内容进入更多人视野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949D86A0-1FEF-4C11-9F34-7E45986C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0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容易续看">
            <a:extLst xmlns:a="http://schemas.openxmlformats.org/drawingml/2006/main">
              <a:ext uri="{FF2B5EF4-FFF2-40B4-BE49-F238E27FC236}">
                <a16:creationId xmlns:a16="http://schemas.microsoft.com/office/drawing/2014/main" id="{EA0A8F3B-AECD-4CBD-ABDF-F4776931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671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容易续看</a:t>
            </a:r>
          </a:p>
        </p:txBody>
      </p:sp>
      <p:sp>
        <p:nvSpPr>
          <p:cNvPr id="14" name="悬念、反转与连续更新&#10;维持“再看一段”的期待">
            <a:extLst xmlns:a="http://schemas.openxmlformats.org/drawingml/2006/main">
              <a:ext uri="{FF2B5EF4-FFF2-40B4-BE49-F238E27FC236}">
                <a16:creationId xmlns:a16="http://schemas.microsoft.com/office/drawing/2014/main" id="{ADFEBCD3-328F-4ABD-B19F-6FD9D6B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悬念、反转与连续更新</a:t>
            </a:r>
          </a:p>
          <a:p xmlns:a="http://schemas.openxmlformats.org/drawingml/2006/main">
            <a: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维持“再看一段”的期待</a:t>
            </a:r>
          </a:p>
        </p:txBody>
      </p:sp>
    </p:spTree>
    <p:extLst>
      <p:ext uri="{BB962C8B-B14F-4D97-AF65-F5344CB8AC3E}">
        <p14:creationId xmlns:p14="http://schemas.microsoft.com/office/powerpoint/2010/main" val="1522655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 / 供给如何被放大">
            <a:extLst xmlns:a="http://schemas.openxmlformats.org/drawingml/2006/main">
              <a:ext uri="{FF2B5EF4-FFF2-40B4-BE49-F238E27FC236}">
                <a16:creationId xmlns:a16="http://schemas.microsoft.com/office/drawing/2014/main" id="{1756E74D-C37D-4087-8B4E-8DAA191D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01 / 供给如何被放大</a:t>
            </a:r>
          </a:p>
        </p:txBody>
      </p:sp>
      <p:sp>
        <p:nvSpPr>
          <p:cNvPr id="2" name="AI 改变的，是尝试与复制的成本">
            <a:extLst xmlns:a="http://schemas.openxmlformats.org/drawingml/2006/main">
              <a:ext uri="{FF2B5EF4-FFF2-40B4-BE49-F238E27FC236}">
                <a16:creationId xmlns:a16="http://schemas.microsoft.com/office/drawing/2014/main" id="{29F56E6C-024C-449A-8099-A6EB3943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AI 改变的，是尝试与复制的成本</a:t>
            </a:r>
          </a:p>
        </p:txBody>
      </p:sp>
      <p:sp>
        <p:nvSpPr>
          <p:cNvPr id="3" name="制作效率提高，可以服务小众表达，也可以放大已经验证">
            <a:extLst xmlns:a="http://schemas.openxmlformats.org/drawingml/2006/main">
              <a:ext uri="{FF2B5EF4-FFF2-40B4-BE49-F238E27FC236}">
                <a16:creationId xmlns:a16="http://schemas.microsoft.com/office/drawing/2014/main" id="{022EB466-026A-4241-A930-03A79985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制作效率提高，可以服务小众表达，也可以放大已经验证过的套路。</a:t>
            </a:r>
          </a:p>
        </p:txBody>
      </p:sp>
      <p:sp>
        <p:nvSpPr>
          <p:cNvPr id="4" name="[S2] 28 名微短剧编剧访谈；[S3] 产业报">
            <a:extLst xmlns:a="http://schemas.openxmlformats.org/drawingml/2006/main">
              <a:ext uri="{FF2B5EF4-FFF2-40B4-BE49-F238E27FC236}">
                <a16:creationId xmlns:a16="http://schemas.microsoft.com/office/drawing/2014/main" id="{E9860D7B-D9EA-47B1-B170-05C251D2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[S2] 28 名微短剧编剧访谈；[S3] 产业报道。因果关系为本演讲分析。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7737F555-14A8-46AC-9BA1-D3EA7716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32CFA-ABEF-45B2-96FA-319A437435EA}"/>
              </a:ext>
            </a:extLst>
          </p:cNvPr>
          <p:cNvGraphicFramePr/>
          <p:nvPr/>
        </p:nvGraphicFramePr>
        <p:xfrm>
          <a:off xmlns:a="http://schemas.openxmlformats.org/drawingml/2006/main" x="666750" y="2524125"/>
          <a:ext xmlns:a="http://schemas.openxmlformats.org/drawingml/2006/main" cx="108585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4476750"/>
                <a:gridCol w="4476750"/>
              </a:tblGrid>
              <a:tr h="5905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新的可能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伴随的压力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</a:tr>
              <a:tr h="803275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更快做出样片和视觉版本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试错、返工与一致性仍需投入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3275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更多作品有机会试探受众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内容增加，竞争也更密集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</a:tr>
              <a:tr h="803275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评论与观看反馈进入创作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容易反复复制有效情节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生成速度提高，并不会自动提高故事深度。">
            <a:extLst xmlns:a="http://schemas.openxmlformats.org/drawingml/2006/main">
              <a:ext uri="{FF2B5EF4-FFF2-40B4-BE49-F238E27FC236}">
                <a16:creationId xmlns:a16="http://schemas.microsoft.com/office/drawing/2014/main" id="{2F5EE1F4-FF79-423D-A6D2-E1AB73FB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rPr>
              <a:t>生成速度提高，并不会自动提高故事深度。</a:t>
            </a:r>
          </a:p>
        </p:txBody>
      </p:sp>
    </p:spTree>
    <p:extLst>
      <p:ext uri="{BB962C8B-B14F-4D97-AF65-F5344CB8AC3E}">
        <p14:creationId xmlns:p14="http://schemas.microsoft.com/office/powerpoint/2010/main" val="418582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2 / 2026—2029 的观察窗口">
            <a:extLst xmlns:a="http://schemas.openxmlformats.org/drawingml/2006/main">
              <a:ext uri="{FF2B5EF4-FFF2-40B4-BE49-F238E27FC236}">
                <a16:creationId xmlns:a16="http://schemas.microsoft.com/office/drawing/2014/main" id="{319B752F-4919-4A1A-9016-08EC4BDC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02 / 2026—2029 的观察窗口</a:t>
            </a:r>
          </a:p>
        </p:txBody>
      </p:sp>
      <p:sp>
        <p:nvSpPr>
          <p:cNvPr id="2" name="未来不会只有一种结果">
            <a:extLst xmlns:a="http://schemas.openxmlformats.org/drawingml/2006/main">
              <a:ext uri="{FF2B5EF4-FFF2-40B4-BE49-F238E27FC236}">
                <a16:creationId xmlns:a16="http://schemas.microsoft.com/office/drawing/2014/main" id="{0821DCE5-3CD6-428A-BEB2-E4D99B41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未来不会只有一种结果</a:t>
            </a:r>
          </a:p>
        </p:txBody>
      </p:sp>
      <p:sp>
        <p:nvSpPr>
          <p:cNvPr id="3" name="以下是条件性情景，不是确定的技术进度表；三种方向可">
            <a:extLst xmlns:a="http://schemas.openxmlformats.org/drawingml/2006/main">
              <a:ext uri="{FF2B5EF4-FFF2-40B4-BE49-F238E27FC236}">
                <a16:creationId xmlns:a16="http://schemas.microsoft.com/office/drawing/2014/main" id="{A1EEC705-7872-4B40-9090-3AE7015B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以下是条件性情景，不是确定的技术进度表；三种方向可能同时存在。</a:t>
            </a:r>
          </a:p>
        </p:txBody>
      </p:sp>
      <p:sp>
        <p:nvSpPr>
          <p:cNvPr id="4" name="未来设想｜依据当前能力与产业结构推演">
            <a:extLst xmlns:a="http://schemas.openxmlformats.org/drawingml/2006/main">
              <a:ext uri="{FF2B5EF4-FFF2-40B4-BE49-F238E27FC236}">
                <a16:creationId xmlns:a16="http://schemas.microsoft.com/office/drawing/2014/main" id="{2D022121-2D6A-4703-8335-89E1E653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未来设想｜依据当前能力与产业结构推演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67E90D01-A1E6-4B77-AA39-2F69AFEA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C7E80-8207-425B-A133-598FE0B78214}"/>
              </a:ext>
            </a:extLst>
          </p:cNvPr>
          <p:cNvGraphicFramePr/>
          <p:nvPr/>
        </p:nvGraphicFramePr>
        <p:xfrm>
          <a:off xmlns:a="http://schemas.openxmlformats.org/drawingml/2006/main" x="666750" y="2524125"/>
          <a:ext xmlns:a="http://schemas.openxmlformats.org/drawingml/2006/main" cx="10858500" cy="3162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191000"/>
                <a:gridCol w="3619500"/>
              </a:tblGrid>
              <a:tr h="5905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可能方向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成立的关键条件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值得观察什么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</a:tr>
              <a:tr h="8572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小团队与小众题材增加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工具可用 + 稳定交付 + 找到受众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是否出现可持续的差异化作品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模板与版本数量暴增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生成便宜 + 分发奖励相似内容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重复率、观看疲劳与收益集中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</a:tr>
              <a:tr h="8572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互动与个性化叙事探索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一致性、时延、成本与授权解决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选择是否真正改变后续剧情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6063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11877-871B-43DA-A91B-9066962DA8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87c4a2e7e497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 / 创作者的表达空间">
            <a:extLst xmlns:a="http://schemas.openxmlformats.org/drawingml/2006/main">
              <a:ext uri="{FF2B5EF4-FFF2-40B4-BE49-F238E27FC236}">
                <a16:creationId xmlns:a16="http://schemas.microsoft.com/office/drawing/2014/main" id="{B030B1F9-21E3-440E-91C0-973D91FF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02 / 创作者的表达空间</a:t>
            </a:r>
          </a:p>
        </p:txBody>
      </p:sp>
      <p:sp>
        <p:nvSpPr>
          <p:cNvPr id="3" name="机会一：&#10;让小题材被看见">
            <a:extLst xmlns:a="http://schemas.openxmlformats.org/drawingml/2006/main">
              <a:ext uri="{FF2B5EF4-FFF2-40B4-BE49-F238E27FC236}">
                <a16:creationId xmlns:a16="http://schemas.microsoft.com/office/drawing/2014/main" id="{3AB6328A-4DF6-4DF7-819C-F758375B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机会一：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让小题材被看见</a:t>
            </a:r>
          </a:p>
        </p:txBody>
      </p:sp>
      <p:sp>
        <p:nvSpPr>
          <p:cNvPr id="4" name="情景推演；产业背景见 [S3]、[S4]">
            <a:extLst xmlns:a="http://schemas.openxmlformats.org/drawingml/2006/main">
              <a:ext uri="{FF2B5EF4-FFF2-40B4-BE49-F238E27FC236}">
                <a16:creationId xmlns:a16="http://schemas.microsoft.com/office/drawing/2014/main" id="{C1EDC7C3-BC07-40EF-8261-7D7FCA9D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情景推演；产业背景见 [S3]、[S4]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C7074453-0B79-4BAC-B48F-96BEF199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AI 概念示意">
            <a:extLst xmlns:a="http://schemas.openxmlformats.org/drawingml/2006/main">
              <a:ext uri="{FF2B5EF4-FFF2-40B4-BE49-F238E27FC236}">
                <a16:creationId xmlns:a16="http://schemas.microsoft.com/office/drawing/2014/main" id="{C6FFBBB8-CD89-478F-9775-B588F3A7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AI 概念示意</a:t>
            </a:r>
          </a:p>
        </p:txBody>
      </p:sp>
      <p:sp>
        <p:nvSpPr>
          <p:cNvPr id="7" name="地方生活 · 专业知识&#10;个人经历 · 小众想象">
            <a:extLst xmlns:a="http://schemas.openxmlformats.org/drawingml/2006/main">
              <a:ext uri="{FF2B5EF4-FFF2-40B4-BE49-F238E27FC236}">
                <a16:creationId xmlns:a16="http://schemas.microsoft.com/office/drawing/2014/main" id="{172D251E-9822-4952-8FC6-0C6320C3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地方生活 · 专业知识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个人经历 · 小众想象</a:t>
            </a:r>
          </a:p>
        </p:txBody>
      </p:sp>
      <p:sp>
        <p:nvSpPr>
          <p:cNvPr id="8" name="最值得积累的资产：&#10;你熟悉的人、问题与细节。">
            <a:extLst xmlns:a="http://schemas.openxmlformats.org/drawingml/2006/main">
              <a:ext uri="{FF2B5EF4-FFF2-40B4-BE49-F238E27FC236}">
                <a16:creationId xmlns:a16="http://schemas.microsoft.com/office/drawing/2014/main" id="{73D43262-AC61-4109-A170-C7C3A082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最值得积累的资产：</a:t>
            </a:r>
          </a:p>
          <a:p xmlns:a="http://schemas.openxmlformats.org/drawingml/2006/main">
            <a: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你熟悉的人、问题与细节。</a:t>
            </a:r>
          </a:p>
        </p:txBody>
      </p:sp>
    </p:spTree>
    <p:extLst>
      <p:ext uri="{BB962C8B-B14F-4D97-AF65-F5344CB8AC3E}">
        <p14:creationId xmlns:p14="http://schemas.microsoft.com/office/powerpoint/2010/main" val="1402607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2 / 个性化的边界">
            <a:extLst xmlns:a="http://schemas.openxmlformats.org/drawingml/2006/main">
              <a:ext uri="{FF2B5EF4-FFF2-40B4-BE49-F238E27FC236}">
                <a16:creationId xmlns:a16="http://schemas.microsoft.com/office/drawing/2014/main" id="{C3FD728E-8906-4E68-80B8-CBF9E966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02 / 个性化的边界</a:t>
            </a:r>
          </a:p>
        </p:txBody>
      </p:sp>
      <p:sp>
        <p:nvSpPr>
          <p:cNvPr id="2" name="机会二：从“为你推荐”到“与你共演”？">
            <a:extLst xmlns:a="http://schemas.openxmlformats.org/drawingml/2006/main">
              <a:ext uri="{FF2B5EF4-FFF2-40B4-BE49-F238E27FC236}">
                <a16:creationId xmlns:a16="http://schemas.microsoft.com/office/drawing/2014/main" id="{B235C360-2853-4274-A3A7-C15D7801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机会二：从“为你推荐”到“与你共演”？</a:t>
            </a:r>
          </a:p>
        </p:txBody>
      </p:sp>
      <p:sp>
        <p:nvSpPr>
          <p:cNvPr id="3" name="“推荐适合你的作品”和“实时生成属于你的剧情”，是">
            <a:extLst xmlns:a="http://schemas.openxmlformats.org/drawingml/2006/main">
              <a:ext uri="{FF2B5EF4-FFF2-40B4-BE49-F238E27FC236}">
                <a16:creationId xmlns:a16="http://schemas.microsoft.com/office/drawing/2014/main" id="{EFA7CD33-C2E6-42A0-A98A-86762236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“推荐适合你的作品”和“实时生成属于你的剧情”，是不同层次的能力。</a:t>
            </a:r>
          </a:p>
        </p:txBody>
      </p:sp>
      <p:sp>
        <p:nvSpPr>
          <p:cNvPr id="4" name="[S8] Genie 3（2025）是技术探索示例">
            <a:extLst xmlns:a="http://schemas.openxmlformats.org/drawingml/2006/main">
              <a:ext uri="{FF2B5EF4-FFF2-40B4-BE49-F238E27FC236}">
                <a16:creationId xmlns:a16="http://schemas.microsoft.com/office/drawing/2014/main" id="{600EE36D-FFAC-46A1-B3EB-D8E4F77C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[S8] Genie 3（2025）是技术探索示例，不代表成熟的个性化短剧产品。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6CC4B091-F74D-4DD3-9D3E-607FFAE6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8AF30-CDF6-4C8B-B121-408B174A1A97}"/>
              </a:ext>
            </a:extLst>
          </p:cNvPr>
          <p:cNvGraphicFramePr/>
          <p:nvPr/>
        </p:nvGraphicFramePr>
        <p:xfrm>
          <a:off xmlns:a="http://schemas.openxmlformats.org/drawingml/2006/main" x="666750" y="2524125"/>
          <a:ext xmlns:a="http://schemas.openxmlformats.org/drawingml/2006/main" cx="108585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095750"/>
                <a:gridCol w="4095750"/>
              </a:tblGrid>
              <a:tr h="5905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观众体验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状态与限制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</a:tr>
              <a:tr h="78740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推荐已有内容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从内容库找到更合适的作品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已有分发方式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制作不同版本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调整语言、风格或部分情节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可尝试；仍需质量与授权控制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</a:tr>
              <a:tr h="78740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实时持续互动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选择影响人物与后续世界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探索情景；一致性与成本待解决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故事越“懂我”，也越需要选择权、隐私边界与清晰标识">
            <a:extLst xmlns:a="http://schemas.openxmlformats.org/drawingml/2006/main">
              <a:ext uri="{FF2B5EF4-FFF2-40B4-BE49-F238E27FC236}">
                <a16:creationId xmlns:a16="http://schemas.microsoft.com/office/drawing/2014/main" id="{1C4C7FD0-2467-4DAA-A162-7678FAE5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故事越“懂我”，也越需要选择权、隐私边界与清晰标识。</a:t>
            </a:r>
          </a:p>
        </p:txBody>
      </p:sp>
    </p:spTree>
    <p:extLst>
      <p:ext uri="{BB962C8B-B14F-4D97-AF65-F5344CB8AC3E}">
        <p14:creationId xmlns:p14="http://schemas.microsoft.com/office/powerpoint/2010/main" val="16122912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3 / 创作者的商业现实">
            <a:extLst xmlns:a="http://schemas.openxmlformats.org/drawingml/2006/main">
              <a:ext uri="{FF2B5EF4-FFF2-40B4-BE49-F238E27FC236}">
                <a16:creationId xmlns:a16="http://schemas.microsoft.com/office/drawing/2014/main" id="{CDA99116-0CFB-4C2D-9275-C880BF80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03 / 创作者的商业现实</a:t>
            </a:r>
          </a:p>
        </p:txBody>
      </p:sp>
      <p:sp>
        <p:nvSpPr>
          <p:cNvPr id="2" name="能做出视频，离稳定收入还有多远？">
            <a:extLst xmlns:a="http://schemas.openxmlformats.org/drawingml/2006/main">
              <a:ext uri="{FF2B5EF4-FFF2-40B4-BE49-F238E27FC236}">
                <a16:creationId xmlns:a16="http://schemas.microsoft.com/office/drawing/2014/main" id="{2DCE1DEA-AF0E-4E06-AE22-FFFDF658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能做出视频，离稳定收入还有多远？</a:t>
            </a:r>
          </a:p>
        </p:txBody>
      </p:sp>
      <p:sp>
        <p:nvSpPr>
          <p:cNvPr id="3" name="生产门槛下降之后，找到受众、建立信任和持续交付的重">
            <a:extLst xmlns:a="http://schemas.openxmlformats.org/drawingml/2006/main">
              <a:ext uri="{FF2B5EF4-FFF2-40B4-BE49-F238E27FC236}">
                <a16:creationId xmlns:a16="http://schemas.microsoft.com/office/drawing/2014/main" id="{13C71F3C-408E-449C-A6CB-AC309BAC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生产门槛下降之后，找到受众、建立信任和持续交付的重要性会上升。</a:t>
            </a:r>
          </a:p>
        </p:txBody>
      </p:sp>
      <p:sp>
        <p:nvSpPr>
          <p:cNvPr id="4" name="分析框架；成本与创作实践参考 [S3]、[S4]">
            <a:extLst xmlns:a="http://schemas.openxmlformats.org/drawingml/2006/main">
              <a:ext uri="{FF2B5EF4-FFF2-40B4-BE49-F238E27FC236}">
                <a16:creationId xmlns:a16="http://schemas.microsoft.com/office/drawing/2014/main" id="{EFD7C0AF-C683-48E9-BDA9-C7B1455A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分析框架；成本与创作实践参考 [S3]、[S4]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F0554B8A-0F6C-480D-A1A8-0F1BB1A0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作品">
            <a:extLst xmlns:a="http://schemas.openxmlformats.org/drawingml/2006/main">
              <a:ext uri="{FF2B5EF4-FFF2-40B4-BE49-F238E27FC236}">
                <a16:creationId xmlns:a16="http://schemas.microsoft.com/office/drawing/2014/main" id="{ABB362AA-2BD3-474A-9B1F-02D665F3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rPr>
              <a:t>作品</a:t>
            </a:r>
          </a:p>
        </p:txBody>
      </p:sp>
      <p:sp>
        <p:nvSpPr>
          <p:cNvPr id="7" name="受众">
            <a:extLst xmlns:a="http://schemas.openxmlformats.org/drawingml/2006/main">
              <a:ext uri="{FF2B5EF4-FFF2-40B4-BE49-F238E27FC236}">
                <a16:creationId xmlns:a16="http://schemas.microsoft.com/office/drawing/2014/main" id="{2B9D5A82-56CE-4433-B016-3ACBD9F3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rPr>
              <a:t>受众</a:t>
            </a:r>
          </a:p>
        </p:txBody>
      </p:sp>
      <p:sp>
        <p:nvSpPr>
          <p:cNvPr id="8" name="回报">
            <a:extLst xmlns:a="http://schemas.openxmlformats.org/drawingml/2006/main">
              <a:ext uri="{FF2B5EF4-FFF2-40B4-BE49-F238E27FC236}">
                <a16:creationId xmlns:a16="http://schemas.microsoft.com/office/drawing/2014/main" id="{A7E9646C-BB15-4B57-9A7B-A9A6DDA9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rPr>
              <a:t>回报</a:t>
            </a:r>
          </a:p>
        </p:txBody>
      </p:sp>
      <p:sp>
        <p:nvSpPr>
          <p:cNvPr id="9" name="完成可观看的内容&#10;具备稳定的质量">
            <a:extLst xmlns:a="http://schemas.openxmlformats.org/drawingml/2006/main">
              <a:ext uri="{FF2B5EF4-FFF2-40B4-BE49-F238E27FC236}">
                <a16:creationId xmlns:a16="http://schemas.microsoft.com/office/drawing/2014/main" id="{68E33F7B-F441-4ACF-9EF6-251ACA57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完成可观看的内容</a:t>
            </a:r>
          </a:p>
          <a:p xmlns:a="http://schemas.openxmlformats.org/drawingml/2006/main">
            <a: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具备稳定的质量</a:t>
            </a:r>
          </a:p>
        </p:txBody>
      </p:sp>
      <p:sp>
        <p:nvSpPr>
          <p:cNvPr id="10" name="被合适的人发现&#10;让人愿意再次回来">
            <a:extLst xmlns:a="http://schemas.openxmlformats.org/drawingml/2006/main">
              <a:ext uri="{FF2B5EF4-FFF2-40B4-BE49-F238E27FC236}">
                <a16:creationId xmlns:a16="http://schemas.microsoft.com/office/drawing/2014/main" id="{D40051C4-1394-4F8B-ABE5-417E9CE5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48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被合适的人发现</a:t>
            </a:r>
          </a:p>
          <a:p xmlns:a="http://schemas.openxmlformats.org/drawingml/2006/main">
            <a: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让人愿意再次回来</a:t>
            </a:r>
          </a:p>
        </p:txBody>
      </p:sp>
      <p:sp>
        <p:nvSpPr>
          <p:cNvPr id="11" name="形成明确的收入方式&#10;覆盖时间和实际支出">
            <a:extLst xmlns:a="http://schemas.openxmlformats.org/drawingml/2006/main">
              <a:ext uri="{FF2B5EF4-FFF2-40B4-BE49-F238E27FC236}">
                <a16:creationId xmlns:a16="http://schemas.microsoft.com/office/drawing/2014/main" id="{90AD84EB-4C15-4664-A9FA-614E38CB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48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形成明确的收入方式</a:t>
            </a:r>
          </a:p>
          <a:p xmlns:a="http://schemas.openxmlformats.org/drawingml/2006/main">
            <a:pPr>
              <a:def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覆盖时间和实际支出</a:t>
            </a:r>
          </a:p>
        </p:txBody>
      </p:sp>
      <p:sp>
        <p:nvSpPr>
          <p:cNvPr id="12" name="这是三个都需要解决的问题。">
            <a:extLst xmlns:a="http://schemas.openxmlformats.org/drawingml/2006/main">
              <a:ext uri="{FF2B5EF4-FFF2-40B4-BE49-F238E27FC236}">
                <a16:creationId xmlns:a16="http://schemas.microsoft.com/office/drawing/2014/main" id="{B18A1B12-6DBA-4C2B-B202-9E71CAEC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这是三个都需要解决的问题。</a:t>
            </a:r>
          </a:p>
        </p:txBody>
      </p:sp>
    </p:spTree>
    <p:extLst>
      <p:ext uri="{BB962C8B-B14F-4D97-AF65-F5344CB8AC3E}">
        <p14:creationId xmlns:p14="http://schemas.microsoft.com/office/powerpoint/2010/main" val="306402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3 / 收益与成本">
            <a:extLst xmlns:a="http://schemas.openxmlformats.org/drawingml/2006/main">
              <a:ext uri="{FF2B5EF4-FFF2-40B4-BE49-F238E27FC236}">
                <a16:creationId xmlns:a16="http://schemas.microsoft.com/office/drawing/2014/main" id="{8468112C-4FB2-4F09-8BA3-95AFBEB1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03 / 收益与成本</a:t>
            </a:r>
          </a:p>
        </p:txBody>
      </p:sp>
      <p:sp>
        <p:nvSpPr>
          <p:cNvPr id="2" name="创作者需要算一笔完整的账">
            <a:extLst xmlns:a="http://schemas.openxmlformats.org/drawingml/2006/main">
              <a:ext uri="{FF2B5EF4-FFF2-40B4-BE49-F238E27FC236}">
                <a16:creationId xmlns:a16="http://schemas.microsoft.com/office/drawing/2014/main" id="{21AA362F-1C06-4A44-B484-FB944D99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创作者需要算一笔完整的账</a:t>
            </a:r>
          </a:p>
        </p:txBody>
      </p:sp>
      <p:sp>
        <p:nvSpPr>
          <p:cNvPr id="3" name="可留存收入 − 实际支出 − 自己时间的价值，才接">
            <a:extLst xmlns:a="http://schemas.openxmlformats.org/drawingml/2006/main">
              <a:ext uri="{FF2B5EF4-FFF2-40B4-BE49-F238E27FC236}">
                <a16:creationId xmlns:a16="http://schemas.microsoft.com/office/drawing/2014/main" id="{5A0359DC-A887-4CD5-8CB2-CB56A6D5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可留存收入 − 实际支出 − 自己时间的价值，才接近一项工作的真实回报。</a:t>
            </a:r>
          </a:p>
        </p:txBody>
      </p:sp>
      <p:sp>
        <p:nvSpPr>
          <p:cNvPr id="4" name="决策框架｜没有使用虚构收入数字；具体规则按合作与平">
            <a:extLst xmlns:a="http://schemas.openxmlformats.org/drawingml/2006/main">
              <a:ext uri="{FF2B5EF4-FFF2-40B4-BE49-F238E27FC236}">
                <a16:creationId xmlns:a16="http://schemas.microsoft.com/office/drawing/2014/main" id="{DCE57FCD-1344-4E2E-B2D1-DA0148EA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决策框架｜没有使用虚构收入数字；具体规则按合作与平台约定核对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EF8FAA0F-219D-4D0C-AC60-6F5D0B93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3B7E4-D352-4486-9601-6ABDD9C21D3B}"/>
              </a:ext>
            </a:extLst>
          </p:cNvPr>
          <p:cNvGraphicFramePr/>
          <p:nvPr/>
        </p:nvGraphicFramePr>
        <p:xfrm>
          <a:off xmlns:a="http://schemas.openxmlformats.org/drawingml/2006/main" x="666750" y="2524125"/>
          <a:ext xmlns:a="http://schemas.openxmlformats.org/drawingml/2006/main" cx="108585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4000500"/>
                <a:gridCol w="3619500"/>
              </a:tblGrid>
              <a:tr h="5905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收入可能来自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不能漏算的投入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先核对什么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</a:tr>
              <a:tr h="78740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平台分成／用户付费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工具、生成、配音、剪辑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结算条件与分账规则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品牌或客户定制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沟通、返工、交付、获客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修改次数与素材权利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</a:tr>
              <a:tr h="78740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 授权／系列经营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长期维护、角色一致性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授权范围与持续需求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先做可承受的小实验，再判断是否值得持续投入。">
            <a:extLst xmlns:a="http://schemas.openxmlformats.org/drawingml/2006/main">
              <a:ext uri="{FF2B5EF4-FFF2-40B4-BE49-F238E27FC236}">
                <a16:creationId xmlns:a16="http://schemas.microsoft.com/office/drawing/2014/main" id="{9ECE5935-FDEA-4AED-AC92-71C6C1E7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rPr>
              <a:t>先做可承受的小实验，再判断是否值得持续投入。</a:t>
            </a:r>
          </a:p>
        </p:txBody>
      </p:sp>
    </p:spTree>
    <p:extLst>
      <p:ext uri="{BB962C8B-B14F-4D97-AF65-F5344CB8AC3E}">
        <p14:creationId xmlns:p14="http://schemas.microsoft.com/office/powerpoint/2010/main" val="244331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3 / 谁能留下长期价值">
            <a:extLst xmlns:a="http://schemas.openxmlformats.org/drawingml/2006/main">
              <a:ext uri="{FF2B5EF4-FFF2-40B4-BE49-F238E27FC236}">
                <a16:creationId xmlns:a16="http://schemas.microsoft.com/office/drawing/2014/main" id="{ACAA1856-C48E-4C6B-BC6F-B6370D95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03 / 谁能留下长期价值</a:t>
            </a:r>
          </a:p>
        </p:txBody>
      </p:sp>
      <p:sp>
        <p:nvSpPr>
          <p:cNvPr id="2" name="竞争还会发生在分发、权利与信任上">
            <a:extLst xmlns:a="http://schemas.openxmlformats.org/drawingml/2006/main">
              <a:ext uri="{FF2B5EF4-FFF2-40B4-BE49-F238E27FC236}">
                <a16:creationId xmlns:a16="http://schemas.microsoft.com/office/drawing/2014/main" id="{3448C995-98F4-4802-A7C3-E7DC010E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竞争还会发生在分发、权利与信任上</a:t>
            </a:r>
          </a:p>
        </p:txBody>
      </p:sp>
      <p:sp>
        <p:nvSpPr>
          <p:cNvPr id="3" name="工具变得普遍之后，原创资产、受众关系和可靠交付更难">
            <a:extLst xmlns:a="http://schemas.openxmlformats.org/drawingml/2006/main">
              <a:ext uri="{FF2B5EF4-FFF2-40B4-BE49-F238E27FC236}">
                <a16:creationId xmlns:a16="http://schemas.microsoft.com/office/drawing/2014/main" id="{E39CA5CB-F301-4394-830E-50CF8EA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工具变得普遍之后，原创资产、受众关系和可靠交付更难被一次生成复制。</a:t>
            </a:r>
          </a:p>
        </p:txBody>
      </p:sp>
      <p:sp>
        <p:nvSpPr>
          <p:cNvPr id="4" name="[S5] YouTube 2025 政策澄清；[S">
            <a:extLst xmlns:a="http://schemas.openxmlformats.org/drawingml/2006/main">
              <a:ext uri="{FF2B5EF4-FFF2-40B4-BE49-F238E27FC236}">
                <a16:creationId xmlns:a16="http://schemas.microsoft.com/office/drawing/2014/main" id="{B05FE188-B4A4-4824-9B38-36CF3069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[S5] YouTube 2025 政策澄清；[S9] TikTok 2025 测试公告。仅作海外案例。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D94109C9-8E7B-48BF-8F9B-988701F4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6F4D4-3707-4F3F-AC74-6C9D0ED7292C}"/>
              </a:ext>
            </a:extLst>
          </p:cNvPr>
          <p:cNvGraphicFramePr/>
          <p:nvPr/>
        </p:nvGraphicFramePr>
        <p:xfrm>
          <a:off xmlns:a="http://schemas.openxmlformats.org/drawingml/2006/main" x="666750" y="2524125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95750"/>
                <a:gridCol w="6762750"/>
              </a:tblGrid>
              <a:tr h="5905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需要积累的东西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为什么影响持续发展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</a:tr>
              <a:tr h="7556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可持续触达的受众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一次被推荐，不等于长期被记住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56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清晰的内容权利与交付能力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角色、声音、素材与修改责任需要明确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</a:tr>
              <a:tr h="7556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可信的创作与观看体验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标识、原创性和用户选择影响信任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平台奖励什么，创作者就更可能继续生产什么。">
            <a:extLst xmlns:a="http://schemas.openxmlformats.org/drawingml/2006/main">
              <a:ext uri="{FF2B5EF4-FFF2-40B4-BE49-F238E27FC236}">
                <a16:creationId xmlns:a16="http://schemas.microsoft.com/office/drawing/2014/main" id="{990735CE-32D5-4B41-B3BF-3971CF6E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平台奖励什么，创作者就更可能继续生产什么。</a:t>
            </a:r>
          </a:p>
        </p:txBody>
      </p:sp>
    </p:spTree>
    <p:extLst>
      <p:ext uri="{BB962C8B-B14F-4D97-AF65-F5344CB8AC3E}">
        <p14:creationId xmlns:p14="http://schemas.microsoft.com/office/powerpoint/2010/main" val="1409165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4ABCB-7E66-4E26-8AF2-C4D4865299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6871bc7c34ae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 / 创新与同质化">
            <a:extLst xmlns:a="http://schemas.openxmlformats.org/drawingml/2006/main">
              <a:ext uri="{FF2B5EF4-FFF2-40B4-BE49-F238E27FC236}">
                <a16:creationId xmlns:a16="http://schemas.microsoft.com/office/drawing/2014/main" id="{CA05AE5B-20A9-452C-9DB0-FAB9A26B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04 / 创新与同质化</a:t>
            </a:r>
          </a:p>
        </p:txBody>
      </p:sp>
      <p:sp>
        <p:nvSpPr>
          <p:cNvPr id="3" name="换了名字，&#10;故事还是同一套？">
            <a:extLst xmlns:a="http://schemas.openxmlformats.org/drawingml/2006/main">
              <a:ext uri="{FF2B5EF4-FFF2-40B4-BE49-F238E27FC236}">
                <a16:creationId xmlns:a16="http://schemas.microsoft.com/office/drawing/2014/main" id="{2B24DC43-C4C9-403C-B98D-E0724384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换了名字，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故事还是同一套？</a:t>
            </a:r>
          </a:p>
        </p:txBody>
      </p:sp>
      <p:sp>
        <p:nvSpPr>
          <p:cNvPr id="4" name="演讲者观点｜复仇、恋爱等题材本身没有问题">
            <a:extLst xmlns:a="http://schemas.openxmlformats.org/drawingml/2006/main">
              <a:ext uri="{FF2B5EF4-FFF2-40B4-BE49-F238E27FC236}">
                <a16:creationId xmlns:a16="http://schemas.microsoft.com/office/drawing/2014/main" id="{EF4E1F7B-034E-4C72-91FF-28181AEC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演讲者观点｜复仇、恋爱等题材本身没有问题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4A8B310E-EBC7-4607-8DB2-C71362F6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AI 概念示意">
            <a:extLst xmlns:a="http://schemas.openxmlformats.org/drawingml/2006/main">
              <a:ext uri="{FF2B5EF4-FFF2-40B4-BE49-F238E27FC236}">
                <a16:creationId xmlns:a16="http://schemas.microsoft.com/office/drawing/2014/main" id="{0599D764-BF84-4896-89A9-EFE1472A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AI 概念示意</a:t>
            </a:r>
          </a:p>
        </p:txBody>
      </p:sp>
      <p:sp>
        <p:nvSpPr>
          <p:cNvPr id="7" name="相似的冲突&#10;相似的反转&#10;相似的情绪兑现">
            <a:extLst xmlns:a="http://schemas.openxmlformats.org/drawingml/2006/main">
              <a:ext uri="{FF2B5EF4-FFF2-40B4-BE49-F238E27FC236}">
                <a16:creationId xmlns:a16="http://schemas.microsoft.com/office/drawing/2014/main" id="{250C9E8A-87B1-4AEE-B362-DD0EFA64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相似的冲突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相似的反转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相似的情绪兑现</a:t>
            </a:r>
          </a:p>
        </p:txBody>
      </p:sp>
      <p:sp>
        <p:nvSpPr>
          <p:cNvPr id="8" name="真正缺少的，可能是&#10;具体的人与有代价的选择。">
            <a:extLst xmlns:a="http://schemas.openxmlformats.org/drawingml/2006/main">
              <a:ext uri="{FF2B5EF4-FFF2-40B4-BE49-F238E27FC236}">
                <a16:creationId xmlns:a16="http://schemas.microsoft.com/office/drawing/2014/main" id="{9B82A67D-7415-4743-AB5B-B0FC44F4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真正缺少的，可能是</a:t>
            </a:r>
          </a:p>
          <a:p xmlns:a="http://schemas.openxmlformats.org/drawingml/2006/main">
            <a:pPr>
              <a:def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具体的人与有代价的选择。</a:t>
            </a:r>
          </a:p>
        </p:txBody>
      </p:sp>
    </p:spTree>
    <p:extLst>
      <p:ext uri="{BB962C8B-B14F-4D97-AF65-F5344CB8AC3E}">
        <p14:creationId xmlns:p14="http://schemas.microsoft.com/office/powerpoint/2010/main" val="17201358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4 / 研究带来的修正">
            <a:extLst xmlns:a="http://schemas.openxmlformats.org/drawingml/2006/main">
              <a:ext uri="{FF2B5EF4-FFF2-40B4-BE49-F238E27FC236}">
                <a16:creationId xmlns:a16="http://schemas.microsoft.com/office/drawing/2014/main" id="{431A59C2-54FE-497B-BBB4-C15E7982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04 / 研究带来的修正</a:t>
            </a:r>
          </a:p>
        </p:txBody>
      </p:sp>
      <p:sp>
        <p:nvSpPr>
          <p:cNvPr id="2" name="“AI 不能创新”这个判断，需要更谨慎">
            <a:extLst xmlns:a="http://schemas.openxmlformats.org/drawingml/2006/main">
              <a:ext uri="{FF2B5EF4-FFF2-40B4-BE49-F238E27FC236}">
                <a16:creationId xmlns:a16="http://schemas.microsoft.com/office/drawing/2014/main" id="{50CEB84C-8772-4E43-86FB-FD96306B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“AI 不能创新”这个判断，需要更谨慎</a:t>
            </a:r>
          </a:p>
        </p:txBody>
      </p:sp>
      <p:sp>
        <p:nvSpPr>
          <p:cNvPr id="3" name="一种更可靠的表述：AI 能帮助产生新点子，但创作过">
            <a:extLst xmlns:a="http://schemas.openxmlformats.org/drawingml/2006/main">
              <a:ext uri="{FF2B5EF4-FFF2-40B4-BE49-F238E27FC236}">
                <a16:creationId xmlns:a16="http://schemas.microsoft.com/office/drawing/2014/main" id="{031B02F6-416F-4644-B33F-DDBBF0A8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一种更可靠的表述：AI 能帮助产生新点子，但创作过程仍需要明确的判断标准。</a:t>
            </a:r>
          </a:p>
        </p:txBody>
      </p:sp>
      <p:sp>
        <p:nvSpPr>
          <p:cNvPr id="4" name="[S6] Doshi &amp; Hauser，Scien">
            <a:extLst xmlns:a="http://schemas.openxmlformats.org/drawingml/2006/main">
              <a:ext uri="{FF2B5EF4-FFF2-40B4-BE49-F238E27FC236}">
                <a16:creationId xmlns:a16="http://schemas.microsoft.com/office/drawing/2014/main" id="{3717ED1C-0A9A-4106-AF9B-05976C45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[S6] Doshi &amp; Hauser，Science Advances，2024；短篇故事写作实验。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7934ED91-913C-4501-B85C-11BB9F25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3F347-9DDB-4762-A66A-319851B21714}"/>
              </a:ext>
            </a:extLst>
          </p:cNvPr>
          <p:cNvGraphicFramePr/>
          <p:nvPr/>
        </p:nvGraphicFramePr>
        <p:xfrm>
          <a:off xmlns:a="http://schemas.openxmlformats.org/drawingml/2006/main" x="666750" y="2571750"/>
          <a:ext xmlns:a="http://schemas.openxmlformats.org/drawingml/2006/main" cx="1085850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857750"/>
                <a:gridCol w="6000750"/>
              </a:tblGrid>
              <a:tr h="5905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实验观察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对创作的启发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</a:tr>
              <a:tr h="8953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辅助可提高个体作品的评价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 AI 用于拓展候选想法，有实际价值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辅助作品之间也更相似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共同的建议来源，可能缩小整体差异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</a:tr>
            </a:tbl>
          </a:graphicData>
        </a:graphic>
      </p:graphicFrame>
      <p:sp>
        <p:nvSpPr>
          <p:cNvPr id="7" name="边界：一个写作任务的结果，不能概括所有艺术与创新。">
            <a:extLst xmlns:a="http://schemas.openxmlformats.org/drawingml/2006/main">
              <a:ext uri="{FF2B5EF4-FFF2-40B4-BE49-F238E27FC236}">
                <a16:creationId xmlns:a16="http://schemas.microsoft.com/office/drawing/2014/main" id="{D32E230D-17D7-4B88-8A8B-4A1A4676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边界：一个写作任务的结果，不能概括所有艺术与创新。</a:t>
            </a:r>
          </a:p>
        </p:txBody>
      </p:sp>
      <p:sp>
        <p:nvSpPr>
          <p:cNvPr id="8" name="人的责任：提出问题，选择表达，并为作品承担责任。">
            <a:extLst xmlns:a="http://schemas.openxmlformats.org/drawingml/2006/main">
              <a:ext uri="{FF2B5EF4-FFF2-40B4-BE49-F238E27FC236}">
                <a16:creationId xmlns:a16="http://schemas.microsoft.com/office/drawing/2014/main" id="{35C65D73-A984-4B75-992F-36A94229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rPr>
              <a:t>人的责任：提出问题，选择表达，并为作品承担责任。</a:t>
            </a:r>
          </a:p>
        </p:txBody>
      </p:sp>
    </p:spTree>
    <p:extLst>
      <p:ext uri="{BB962C8B-B14F-4D97-AF65-F5344CB8AC3E}">
        <p14:creationId xmlns:p14="http://schemas.microsoft.com/office/powerpoint/2010/main" val="20914483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BF3B0-17FC-463C-BF20-1FD26197CE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ab292b82a464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 / 观看如何影响生活">
            <a:extLst xmlns:a="http://schemas.openxmlformats.org/drawingml/2006/main">
              <a:ext uri="{FF2B5EF4-FFF2-40B4-BE49-F238E27FC236}">
                <a16:creationId xmlns:a16="http://schemas.microsoft.com/office/drawing/2014/main" id="{0AA4AC36-A2B2-4EE1-8363-A1CD00D2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04 / 观看如何影响生活</a:t>
            </a:r>
          </a:p>
        </p:txBody>
      </p:sp>
      <p:sp>
        <p:nvSpPr>
          <p:cNvPr id="3" name="注意力：值得担心，&#10;也需要准确表达">
            <a:extLst xmlns:a="http://schemas.openxmlformats.org/drawingml/2006/main">
              <a:ext uri="{FF2B5EF4-FFF2-40B4-BE49-F238E27FC236}">
                <a16:creationId xmlns:a16="http://schemas.microsoft.com/office/drawing/2014/main" id="{4556EB17-2B11-4DDA-B4FE-427FB0B6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注意力：值得担心，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也需要准确表达</a:t>
            </a:r>
          </a:p>
        </p:txBody>
      </p:sp>
      <p:sp>
        <p:nvSpPr>
          <p:cNvPr id="4" name="[S7] Nguyen 等，Psychologic">
            <a:extLst xmlns:a="http://schemas.openxmlformats.org/drawingml/2006/main">
              <a:ext uri="{FF2B5EF4-FFF2-40B4-BE49-F238E27FC236}">
                <a16:creationId xmlns:a16="http://schemas.microsoft.com/office/drawing/2014/main" id="{90128583-D70C-465F-B671-E47F2A22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[S7] Nguyen 等，Psychological Bulletin，2025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F958736B-DB3D-4700-91CD-BF9B0147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AI 概念示意">
            <a:extLst xmlns:a="http://schemas.openxmlformats.org/drawingml/2006/main">
              <a:ext uri="{FF2B5EF4-FFF2-40B4-BE49-F238E27FC236}">
                <a16:creationId xmlns:a16="http://schemas.microsoft.com/office/drawing/2014/main" id="{DFC23DFC-A502-4552-8398-1BAC1C13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AI 概念示意</a:t>
            </a:r>
          </a:p>
        </p:txBody>
      </p:sp>
      <p:sp>
        <p:nvSpPr>
          <p:cNvPr id="7" name="71 项研究&#10;98,299 名参与者">
            <a:extLst xmlns:a="http://schemas.openxmlformats.org/drawingml/2006/main">
              <a:ext uri="{FF2B5EF4-FFF2-40B4-BE49-F238E27FC236}">
                <a16:creationId xmlns:a16="http://schemas.microsoft.com/office/drawing/2014/main" id="{24C43F0E-9470-46D2-ACA1-D1799860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71 项研究</a:t>
            </a:r>
          </a:p>
          <a:p xmlns:a="http://schemas.openxmlformats.org/drawingml/2006/main">
            <a:pPr>
              <a:def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98,299 名参与者</a:t>
            </a:r>
          </a:p>
        </p:txBody>
      </p:sp>
      <p:sp>
        <p:nvSpPr>
          <p:cNvPr id="8" name="更多短视频使用，与较差的&#10;注意力等认知指标存在关联">
            <a:extLst xmlns:a="http://schemas.openxmlformats.org/drawingml/2006/main">
              <a:ext uri="{FF2B5EF4-FFF2-40B4-BE49-F238E27FC236}">
                <a16:creationId xmlns:a16="http://schemas.microsoft.com/office/drawing/2014/main" id="{D36BE5D4-EDA2-4E64-84C0-6A266968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更多短视频使用，与较差的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注意力等认知指标存在关联。</a:t>
            </a:r>
          </a:p>
        </p:txBody>
      </p:sp>
      <p:sp>
        <p:nvSpPr>
          <p:cNvPr id="9" name="相关性 ≠ 单向因果或永久损伤">
            <a:extLst xmlns:a="http://schemas.openxmlformats.org/drawingml/2006/main">
              <a:ext uri="{FF2B5EF4-FFF2-40B4-BE49-F238E27FC236}">
                <a16:creationId xmlns:a16="http://schemas.microsoft.com/office/drawing/2014/main" id="{DEF9FD7F-9A9E-413D-8403-F21026B6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相关性 ≠ 单向因果或永久损伤</a:t>
            </a:r>
          </a:p>
        </p:txBody>
      </p:sp>
    </p:spTree>
    <p:extLst>
      <p:ext uri="{BB962C8B-B14F-4D97-AF65-F5344CB8AC3E}">
        <p14:creationId xmlns:p14="http://schemas.microsoft.com/office/powerpoint/2010/main" val="5294307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4 / 从注意力到创造力">
            <a:extLst xmlns:a="http://schemas.openxmlformats.org/drawingml/2006/main">
              <a:ext uri="{FF2B5EF4-FFF2-40B4-BE49-F238E27FC236}">
                <a16:creationId xmlns:a16="http://schemas.microsoft.com/office/drawing/2014/main" id="{1CD9A63D-EB2F-4EAA-8848-C1AF5504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04 / 从注意力到创造力</a:t>
            </a:r>
          </a:p>
        </p:txBody>
      </p:sp>
      <p:sp>
        <p:nvSpPr>
          <p:cNvPr id="2" name="灵感的边界，也可能是输入的边界">
            <a:extLst xmlns:a="http://schemas.openxmlformats.org/drawingml/2006/main">
              <a:ext uri="{FF2B5EF4-FFF2-40B4-BE49-F238E27FC236}">
                <a16:creationId xmlns:a16="http://schemas.microsoft.com/office/drawing/2014/main" id="{C86E012F-E346-474B-87A0-7FD7FDA1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灵感的边界，也可能是输入的边界</a:t>
            </a:r>
          </a:p>
        </p:txBody>
      </p:sp>
      <p:sp>
        <p:nvSpPr>
          <p:cNvPr id="3" name="如果长期只接触相似模板，我们提出的问题与想象的答案">
            <a:extLst xmlns:a="http://schemas.openxmlformats.org/drawingml/2006/main">
              <a:ext uri="{FF2B5EF4-FFF2-40B4-BE49-F238E27FC236}">
                <a16:creationId xmlns:a16="http://schemas.microsoft.com/office/drawing/2014/main" id="{D713B721-02D4-47FB-9343-D2B9FE99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如果长期只接触相似模板，我们提出的问题与想象的答案，也可能逐渐相似。</a:t>
            </a:r>
          </a:p>
        </p:txBody>
      </p:sp>
      <p:sp>
        <p:nvSpPr>
          <p:cNvPr id="4" name="演讲者的条件性判断｜不是“刷短视频必然降低创造力”">
            <a:extLst xmlns:a="http://schemas.openxmlformats.org/drawingml/2006/main">
              <a:ext uri="{FF2B5EF4-FFF2-40B4-BE49-F238E27FC236}">
                <a16:creationId xmlns:a16="http://schemas.microsoft.com/office/drawing/2014/main" id="{DB206A4E-FC01-4B75-B857-ADEC4E7F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演讲者的条件性判断｜不是“刷短视频必然降低创造力”的研究结论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7A773EB2-8E86-41D7-A268-47BE532F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反复接触同类内容">
            <a:extLst xmlns:a="http://schemas.openxmlformats.org/drawingml/2006/main">
              <a:ext uri="{FF2B5EF4-FFF2-40B4-BE49-F238E27FC236}">
                <a16:creationId xmlns:a16="http://schemas.microsoft.com/office/drawing/2014/main" id="{C95AB96E-B6EA-4A5A-B905-57762BA7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反复接触同类内容</a:t>
            </a:r>
          </a:p>
        </p:txBody>
      </p:sp>
      <p:sp>
        <p:nvSpPr>
          <p:cNvPr id="7" name="熟悉同样的冲突与解决方式&#10;更容易沿着已有套路继续写">
            <a:extLst xmlns:a="http://schemas.openxmlformats.org/drawingml/2006/main">
              <a:ext uri="{FF2B5EF4-FFF2-40B4-BE49-F238E27FC236}">
                <a16:creationId xmlns:a16="http://schemas.microsoft.com/office/drawing/2014/main" id="{B064A4D2-7494-4D87-B374-D0291EFA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熟悉同样的冲突与解决方式</a:t>
            </a:r>
          </a:p>
          <a:p xmlns:a="http://schemas.openxmlformats.org/drawingml/2006/main">
            <a: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更容易沿着已有套路继续写</a:t>
            </a:r>
          </a:p>
        </p:txBody>
      </p:sp>
      <p:sp>
        <p:nvSpPr>
          <p:cNvPr id="8" name="接触不同的生活经验">
            <a:extLst xmlns:a="http://schemas.openxmlformats.org/drawingml/2006/main">
              <a:ext uri="{FF2B5EF4-FFF2-40B4-BE49-F238E27FC236}">
                <a16:creationId xmlns:a16="http://schemas.microsoft.com/office/drawing/2014/main" id="{38207AB2-CDE7-458B-B20F-2E17C1C9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rPr>
              <a:t>接触不同的生活经验</a:t>
            </a:r>
          </a:p>
        </p:txBody>
      </p:sp>
      <p:sp>
        <p:nvSpPr>
          <p:cNvPr id="9" name="读书、交谈、实践与独处&#10;让问题与细节进入创作">
            <a:extLst xmlns:a="http://schemas.openxmlformats.org/drawingml/2006/main">
              <a:ext uri="{FF2B5EF4-FFF2-40B4-BE49-F238E27FC236}">
                <a16:creationId xmlns:a16="http://schemas.microsoft.com/office/drawing/2014/main" id="{47A7EE1B-5B67-46B0-9719-9B695F7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读书、交谈、实践与独处</a:t>
            </a:r>
          </a:p>
          <a:p xmlns:a="http://schemas.openxmlformats.org/drawingml/2006/main">
            <a:pPr>
              <a:def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让问题与细节进入创作</a:t>
            </a:r>
          </a:p>
        </p:txBody>
      </p:sp>
      <p:sp>
        <p:nvSpPr>
          <p:cNvPr id="10" name="关键不是媒介的长短，而是输入是否多样、理解是否深入">
            <a:extLst xmlns:a="http://schemas.openxmlformats.org/drawingml/2006/main">
              <a:ext uri="{FF2B5EF4-FFF2-40B4-BE49-F238E27FC236}">
                <a16:creationId xmlns:a16="http://schemas.microsoft.com/office/drawing/2014/main" id="{0F64650F-D56A-4198-9B75-9E2C19F9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关键不是媒介的长短，而是输入是否多样、理解是否深入。</a:t>
            </a:r>
          </a:p>
        </p:txBody>
      </p:sp>
    </p:spTree>
    <p:extLst>
      <p:ext uri="{BB962C8B-B14F-4D97-AF65-F5344CB8AC3E}">
        <p14:creationId xmlns:p14="http://schemas.microsoft.com/office/powerpoint/2010/main" val="16555799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4 / 一个虚构的创作示例">
            <a:extLst xmlns:a="http://schemas.openxmlformats.org/drawingml/2006/main">
              <a:ext uri="{FF2B5EF4-FFF2-40B4-BE49-F238E27FC236}">
                <a16:creationId xmlns:a16="http://schemas.microsoft.com/office/drawing/2014/main" id="{C7A04FD9-612D-4540-B259-99C06250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04 / 一个虚构的创作示例</a:t>
            </a:r>
          </a:p>
        </p:txBody>
      </p:sp>
      <p:sp>
        <p:nvSpPr>
          <p:cNvPr id="2" name="同一个“复仇”题材，也能问出不同问题">
            <a:extLst xmlns:a="http://schemas.openxmlformats.org/drawingml/2006/main">
              <a:ext uri="{FF2B5EF4-FFF2-40B4-BE49-F238E27FC236}">
                <a16:creationId xmlns:a16="http://schemas.microsoft.com/office/drawing/2014/main" id="{87C4FB1B-FDB9-44E7-9DE3-B9FAEFCC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同一个“复仇”题材，也能问出不同问题</a:t>
            </a:r>
          </a:p>
        </p:txBody>
      </p:sp>
      <p:sp>
        <p:nvSpPr>
          <p:cNvPr id="3" name="创新可以发生在人物的处境、细节和选择里。">
            <a:extLst xmlns:a="http://schemas.openxmlformats.org/drawingml/2006/main">
              <a:ext uri="{FF2B5EF4-FFF2-40B4-BE49-F238E27FC236}">
                <a16:creationId xmlns:a16="http://schemas.microsoft.com/office/drawing/2014/main" id="{53AF4B23-C960-4250-81BB-143DDD57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创新可以发生在人物的处境、细节和选择里。</a:t>
            </a:r>
          </a:p>
        </p:txBody>
      </p:sp>
      <p:sp>
        <p:nvSpPr>
          <p:cNvPr id="4" name="虚构示例｜用于说明创作思路，不对应现有作品">
            <a:extLst xmlns:a="http://schemas.openxmlformats.org/drawingml/2006/main">
              <a:ext uri="{FF2B5EF4-FFF2-40B4-BE49-F238E27FC236}">
                <a16:creationId xmlns:a16="http://schemas.microsoft.com/office/drawing/2014/main" id="{6703E5BD-34E9-44E2-8DB9-ECFE1DEF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虚构示例｜用于说明创作思路，不对应现有作品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5D3685EF-EE99-4CE6-B47C-FACDAC64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1B9D4-69A3-448D-889B-002040226A23}"/>
              </a:ext>
            </a:extLst>
          </p:cNvPr>
          <p:cNvGraphicFramePr/>
          <p:nvPr/>
        </p:nvGraphicFramePr>
        <p:xfrm>
          <a:off xmlns:a="http://schemas.openxmlformats.org/drawingml/2006/main" x="666750" y="2524125"/>
          <a:ext xmlns:a="http://schemas.openxmlformats.org/drawingml/2006/main" cx="10858500" cy="2905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619625"/>
                <a:gridCol w="6238875"/>
              </a:tblGrid>
              <a:tr h="5905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熟悉的模板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加入具体的人之后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</a:tr>
              <a:tr h="771525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受辱 → 变强 → 反击 → 获胜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主人公终于有了反击的机会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重点：反击是否足够痛快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却发现反击会伤害一个无辜的人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</a:tr>
              <a:tr h="771525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人物主要推动情绪兑现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他还要不要继续？愿意承担什么代价？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画面负责呈现这一刻，创作需要决定为什么值得看。">
            <a:extLst xmlns:a="http://schemas.openxmlformats.org/drawingml/2006/main">
              <a:ext uri="{FF2B5EF4-FFF2-40B4-BE49-F238E27FC236}">
                <a16:creationId xmlns:a16="http://schemas.microsoft.com/office/drawing/2014/main" id="{C87DC150-9B8A-4A59-A700-F9D09F02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B6257"/>
                </a:solidFill>
                <a:latin typeface="Microsoft YaHei"/>
                <a:ea typeface="Microsoft YaHei"/>
                <a:cs typeface="Microsoft YaHei"/>
              </a:rPr>
              <a:t>画面负责呈现这一刻，创作需要决定为什么值得看。</a:t>
            </a:r>
          </a:p>
        </p:txBody>
      </p:sp>
    </p:spTree>
    <p:extLst>
      <p:ext uri="{BB962C8B-B14F-4D97-AF65-F5344CB8AC3E}">
        <p14:creationId xmlns:p14="http://schemas.microsoft.com/office/powerpoint/2010/main" val="7882182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F18D4-A8F4-4B01-9270-5F60E2AE1D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dc819e39b4ad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 / 把观点变成行动">
            <a:extLst xmlns:a="http://schemas.openxmlformats.org/drawingml/2006/main">
              <a:ext uri="{FF2B5EF4-FFF2-40B4-BE49-F238E27FC236}">
                <a16:creationId xmlns:a16="http://schemas.microsoft.com/office/drawing/2014/main" id="{8833258A-6608-41FD-B7BD-251B1EF3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05 / 把观点变成行动</a:t>
            </a:r>
          </a:p>
        </p:txBody>
      </p:sp>
      <p:sp>
        <p:nvSpPr>
          <p:cNvPr id="3" name="给创作者的一个&#10;小规模实验">
            <a:extLst xmlns:a="http://schemas.openxmlformats.org/drawingml/2006/main">
              <a:ext uri="{FF2B5EF4-FFF2-40B4-BE49-F238E27FC236}">
                <a16:creationId xmlns:a16="http://schemas.microsoft.com/office/drawing/2014/main" id="{E0C36282-8AB0-4916-AE85-94C15C15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给创作者的一个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小规模实验</a:t>
            </a:r>
          </a:p>
        </p:txBody>
      </p:sp>
      <p:sp>
        <p:nvSpPr>
          <p:cNvPr id="4" name="实践建议｜用于检验表达，不保证传播或收入">
            <a:extLst xmlns:a="http://schemas.openxmlformats.org/drawingml/2006/main">
              <a:ext uri="{FF2B5EF4-FFF2-40B4-BE49-F238E27FC236}">
                <a16:creationId xmlns:a16="http://schemas.microsoft.com/office/drawing/2014/main" id="{6E736519-F39F-4AD0-ABBA-10FC6E01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实践建议｜用于检验表达，不保证传播或收入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38D6E0C3-85FE-4811-BBB9-B1257C61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AI 概念示意">
            <a:extLst xmlns:a="http://schemas.openxmlformats.org/drawingml/2006/main">
              <a:ext uri="{FF2B5EF4-FFF2-40B4-BE49-F238E27FC236}">
                <a16:creationId xmlns:a16="http://schemas.microsoft.com/office/drawing/2014/main" id="{9C2E9A2F-6790-4FDE-8429-DB822D09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AI 概念示意</a:t>
            </a:r>
          </a:p>
        </p:txBody>
      </p:sp>
      <p:sp>
        <p:nvSpPr>
          <p:cNvPr id="7" name="记录一个真实细节&#10;提出一个值得追问的问题&#10;让 AI">
            <a:extLst xmlns:a="http://schemas.openxmlformats.org/drawingml/2006/main">
              <a:ext uri="{FF2B5EF4-FFF2-40B4-BE49-F238E27FC236}">
                <a16:creationId xmlns:a16="http://schemas.microsoft.com/office/drawing/2014/main" id="{C6EF64EA-FB09-4A17-9343-1555AAFB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5191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记录一个真实细节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提出一个值得追问的问题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 AI 给出多个处理方式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用自己的标准选出一个</a:t>
            </a:r>
          </a:p>
        </p:txBody>
      </p:sp>
      <p:sp>
        <p:nvSpPr>
          <p:cNvPr id="8" name="再问观众：&#10;“你记住了什么？为什么？”">
            <a:extLst xmlns:a="http://schemas.openxmlformats.org/drawingml/2006/main">
              <a:ext uri="{FF2B5EF4-FFF2-40B4-BE49-F238E27FC236}">
                <a16:creationId xmlns:a16="http://schemas.microsoft.com/office/drawing/2014/main" id="{B23F92DB-7781-4E76-92DB-90C8F30E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519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再问观众：</a:t>
            </a:r>
          </a:p>
          <a:p xmlns:a="http://schemas.openxmlformats.org/drawingml/2006/main">
            <a:pPr>
              <a:def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“你记住了什么？为什么？”</a:t>
            </a:r>
          </a:p>
        </p:txBody>
      </p:sp>
    </p:spTree>
    <p:extLst>
      <p:ext uri="{BB962C8B-B14F-4D97-AF65-F5344CB8AC3E}">
        <p14:creationId xmlns:p14="http://schemas.microsoft.com/office/powerpoint/2010/main" val="21440314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93208-600B-4C81-877F-37C3FFAB4D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8464ca51e437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 / 我的判断">
            <a:extLst xmlns:a="http://schemas.openxmlformats.org/drawingml/2006/main">
              <a:ext uri="{FF2B5EF4-FFF2-40B4-BE49-F238E27FC236}">
                <a16:creationId xmlns:a16="http://schemas.microsoft.com/office/drawing/2014/main" id="{0D7081D9-C850-4A95-AA17-2516B244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05 / 我的判断</a:t>
            </a:r>
          </a:p>
        </p:txBody>
      </p:sp>
      <p:sp>
        <p:nvSpPr>
          <p:cNvPr id="3" name="未来值得期待的，&#10;是更多值得讲的故事">
            <a:extLst xmlns:a="http://schemas.openxmlformats.org/drawingml/2006/main">
              <a:ext uri="{FF2B5EF4-FFF2-40B4-BE49-F238E27FC236}">
                <a16:creationId xmlns:a16="http://schemas.microsoft.com/office/drawing/2014/main" id="{A625D166-9AEC-4874-9590-FD053130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未来值得期待的，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是更多值得讲的故事</a:t>
            </a:r>
          </a:p>
        </p:txBody>
      </p:sp>
      <p:sp>
        <p:nvSpPr>
          <p:cNvPr id="4" name="演讲结语｜技术发展与个人选择可以同时被讨论">
            <a:extLst xmlns:a="http://schemas.openxmlformats.org/drawingml/2006/main">
              <a:ext uri="{FF2B5EF4-FFF2-40B4-BE49-F238E27FC236}">
                <a16:creationId xmlns:a16="http://schemas.microsoft.com/office/drawing/2014/main" id="{853338CD-BC80-4FE7-9262-292B9671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演讲结语｜技术发展与个人选择可以同时被讨论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3E647100-F2C4-4238-A884-F3E50A2D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AI 概念示意">
            <a:extLst xmlns:a="http://schemas.openxmlformats.org/drawingml/2006/main">
              <a:ext uri="{FF2B5EF4-FFF2-40B4-BE49-F238E27FC236}">
                <a16:creationId xmlns:a16="http://schemas.microsoft.com/office/drawing/2014/main" id="{8A4AEAF4-6FF3-4670-9B1B-5107E263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7DDD9"/>
                </a:solidFill>
                <a:latin typeface="Microsoft YaHei"/>
                <a:ea typeface="Microsoft YaHei"/>
                <a:cs typeface="Microsoft YaHei"/>
              </a:rPr>
              <a:t>AI 概念示意</a:t>
            </a:r>
          </a:p>
        </p:txBody>
      </p:sp>
      <p:sp>
        <p:nvSpPr>
          <p:cNvPr id="7" name="AI 扩大表达的可能。&#10;观察、判断与责任，&#10;决定我">
            <a:extLst xmlns:a="http://schemas.openxmlformats.org/drawingml/2006/main">
              <a:ext uri="{FF2B5EF4-FFF2-40B4-BE49-F238E27FC236}">
                <a16:creationId xmlns:a16="http://schemas.microsoft.com/office/drawing/2014/main" id="{4FD35C4A-E734-4F0F-935F-86746186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5095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扩大表达的可能。</a:t>
            </a:r>
          </a:p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观察、判断与责任，</a:t>
            </a:r>
          </a:p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决定我们想表达什么。</a:t>
            </a:r>
          </a:p>
        </p:txBody>
      </p:sp>
      <p:sp>
        <p:nvSpPr>
          <p:cNvPr id="8" name="你希望 AI 带来：&#10;更多相似的满足，还是更多新的">
            <a:extLst xmlns:a="http://schemas.openxmlformats.org/drawingml/2006/main">
              <a:ext uri="{FF2B5EF4-FFF2-40B4-BE49-F238E27FC236}">
                <a16:creationId xmlns:a16="http://schemas.microsoft.com/office/drawing/2014/main" id="{371B3A9C-2BED-4BE3-A90A-85B616FA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你希望 AI 带来：</a:t>
            </a:r>
          </a:p>
          <a:p xmlns:a="http://schemas.openxmlformats.org/drawingml/2006/main">
            <a:pPr>
              <a:def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4BF76"/>
                </a:solidFill>
                <a:latin typeface="Microsoft YaHei"/>
                <a:ea typeface="Microsoft YaHei"/>
                <a:cs typeface="Microsoft YaHei"/>
              </a:rPr>
              <a:t>更多相似的满足，还是更多新的理解？</a:t>
            </a:r>
          </a:p>
        </p:txBody>
      </p:sp>
    </p:spTree>
    <p:extLst>
      <p:ext uri="{BB962C8B-B14F-4D97-AF65-F5344CB8AC3E}">
        <p14:creationId xmlns:p14="http://schemas.microsoft.com/office/powerpoint/2010/main" val="8924579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附录 / 不计入正文演讲时间">
            <a:extLst xmlns:a="http://schemas.openxmlformats.org/drawingml/2006/main">
              <a:ext uri="{FF2B5EF4-FFF2-40B4-BE49-F238E27FC236}">
                <a16:creationId xmlns:a16="http://schemas.microsoft.com/office/drawing/2014/main" id="{18ECD3AF-D8A9-471D-9EE7-611781F7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附录 / 不计入正文演讲时间</a:t>
            </a:r>
          </a:p>
        </p:txBody>
      </p:sp>
      <p:sp>
        <p:nvSpPr>
          <p:cNvPr id="2" name="资料附录 A｜产业、创作者与平台">
            <a:extLst xmlns:a="http://schemas.openxmlformats.org/drawingml/2006/main">
              <a:ext uri="{FF2B5EF4-FFF2-40B4-BE49-F238E27FC236}">
                <a16:creationId xmlns:a16="http://schemas.microsoft.com/office/drawing/2014/main" id="{7E36E688-C7CB-401E-AC35-5D1632E8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资料附录 A｜产业、创作者与平台</a:t>
            </a:r>
          </a:p>
        </p:txBody>
      </p:sp>
      <p:sp>
        <p:nvSpPr>
          <p:cNvPr id="3" name="详细链接与适用范围收录在每页备注及配套演讲稿中。">
            <a:extLst xmlns:a="http://schemas.openxmlformats.org/drawingml/2006/main">
              <a:ext uri="{FF2B5EF4-FFF2-40B4-BE49-F238E27FC236}">
                <a16:creationId xmlns:a16="http://schemas.microsoft.com/office/drawing/2014/main" id="{028EB2A8-468D-4B6A-9A67-E957D4AD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详细链接与适用范围收录在每页备注及配套演讲稿中。</a:t>
            </a:r>
          </a:p>
        </p:txBody>
      </p:sp>
      <p:sp>
        <p:nvSpPr>
          <p:cNvPr id="4" name="资料核对截至 2026-10-19｜报告、访谈与平">
            <a:extLst xmlns:a="http://schemas.openxmlformats.org/drawingml/2006/main">
              <a:ext uri="{FF2B5EF4-FFF2-40B4-BE49-F238E27FC236}">
                <a16:creationId xmlns:a16="http://schemas.microsoft.com/office/drawing/2014/main" id="{B0F11601-E04A-4AEA-88E9-FFB84A44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资料核对截至 2026-10-19｜报告、访谈与平台政策适用范围不同</a:t>
            </a:r>
          </a:p>
        </p:txBody>
      </p:sp>
      <p:sp>
        <p:nvSpPr>
          <p:cNvPr id="5" name="19">
            <a:extLst xmlns:a="http://schemas.openxmlformats.org/drawingml/2006/main">
              <a:ext uri="{FF2B5EF4-FFF2-40B4-BE49-F238E27FC236}">
                <a16:creationId xmlns:a16="http://schemas.microsoft.com/office/drawing/2014/main" id="{23057ECC-7F68-4804-8769-9773F28F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S1">
            <a:extLst xmlns:a="http://schemas.openxmlformats.org/drawingml/2006/main">
              <a:ext uri="{FF2B5EF4-FFF2-40B4-BE49-F238E27FC236}">
                <a16:creationId xmlns:a16="http://schemas.microsoft.com/office/drawing/2014/main" id="{7710443C-2948-42F9-B8C4-4C129312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7" name="QuestMobile · 2026 短剧行业洞察">
            <a:extLst xmlns:a="http://schemas.openxmlformats.org/drawingml/2006/main">
              <a:ext uri="{FF2B5EF4-FFF2-40B4-BE49-F238E27FC236}">
                <a16:creationId xmlns:a16="http://schemas.microsoft.com/office/drawing/2014/main" id="{8D980D52-2433-4DF6-8F92-D8C13C79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479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QuestMobile · 2026 短剧行业洞察报告</a:t>
            </a:r>
          </a:p>
        </p:txBody>
      </p:sp>
      <p:sp>
        <p:nvSpPr>
          <p:cNvPr id="8" name="行业与应用口径；不能直接等同 AI 短剧总量">
            <a:extLst xmlns:a="http://schemas.openxmlformats.org/drawingml/2006/main">
              <a:ext uri="{FF2B5EF4-FFF2-40B4-BE49-F238E27FC236}">
                <a16:creationId xmlns:a16="http://schemas.microsoft.com/office/drawing/2014/main" id="{6DCF13C4-5E12-4054-A48A-2CD49131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57525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行业与应用口径；不能直接等同 AI 短剧总量</a:t>
            </a:r>
          </a:p>
        </p:txBody>
      </p:sp>
      <p:sp>
        <p:nvSpPr>
          <p:cNvPr id="9" name="S2">
            <a:extLst xmlns:a="http://schemas.openxmlformats.org/drawingml/2006/main">
              <a:ext uri="{FF2B5EF4-FFF2-40B4-BE49-F238E27FC236}">
                <a16:creationId xmlns:a16="http://schemas.microsoft.com/office/drawing/2014/main" id="{FAD2A57D-574B-4465-97E5-973138C8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" name="Cao 等 · Audience in the L">
            <a:extLst xmlns:a="http://schemas.openxmlformats.org/drawingml/2006/main">
              <a:ext uri="{FF2B5EF4-FFF2-40B4-BE49-F238E27FC236}">
                <a16:creationId xmlns:a16="http://schemas.microsoft.com/office/drawing/2014/main" id="{63541216-D94C-46D4-BE7C-68D99547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1472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Cao 等 · Audience in the Loop · 2026</a:t>
            </a:r>
          </a:p>
        </p:txBody>
      </p:sp>
      <p:sp>
        <p:nvSpPr>
          <p:cNvPr id="11" name="28 名编剧访谈；解释反馈机制，不证明全民行为">
            <a:extLst xmlns:a="http://schemas.openxmlformats.org/drawingml/2006/main">
              <a:ext uri="{FF2B5EF4-FFF2-40B4-BE49-F238E27FC236}">
                <a16:creationId xmlns:a16="http://schemas.microsoft.com/office/drawing/2014/main" id="{712782F6-EFCB-4F23-89B1-BCB43D7C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243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28 名编剧访谈；解释反馈机制，不证明全民行为</a:t>
            </a:r>
          </a:p>
        </p:txBody>
      </p:sp>
      <p:sp>
        <p:nvSpPr>
          <p:cNvPr id="12" name="S3 / S4">
            <a:extLst xmlns:a="http://schemas.openxmlformats.org/drawingml/2006/main">
              <a:ext uri="{FF2B5EF4-FFF2-40B4-BE49-F238E27FC236}">
                <a16:creationId xmlns:a16="http://schemas.microsoft.com/office/drawing/2014/main" id="{7B98D335-26F8-49BD-BED1-D35D1F57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S3 / S4</a:t>
            </a:r>
          </a:p>
        </p:txBody>
      </p:sp>
      <p:sp>
        <p:nvSpPr>
          <p:cNvPr id="13" name="科技日报、光明日报／新华网 · 2026">
            <a:extLst xmlns:a="http://schemas.openxmlformats.org/drawingml/2006/main">
              <a:ext uri="{FF2B5EF4-FFF2-40B4-BE49-F238E27FC236}">
                <a16:creationId xmlns:a16="http://schemas.microsoft.com/office/drawing/2014/main" id="{13674EE2-1008-49F6-9E5D-A003274F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科技日报、光明日报／新华网 · 2026</a:t>
            </a:r>
          </a:p>
        </p:txBody>
      </p:sp>
      <p:sp>
        <p:nvSpPr>
          <p:cNvPr id="14" name="产业与创作个案；成本、收益不可直接外推">
            <a:extLst xmlns:a="http://schemas.openxmlformats.org/drawingml/2006/main">
              <a:ext uri="{FF2B5EF4-FFF2-40B4-BE49-F238E27FC236}">
                <a16:creationId xmlns:a16="http://schemas.microsoft.com/office/drawing/2014/main" id="{76176375-0E43-48B0-9DE0-DAA9D215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91075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产业与创作个案；成本、收益不可直接外推</a:t>
            </a:r>
          </a:p>
        </p:txBody>
      </p:sp>
      <p:sp>
        <p:nvSpPr>
          <p:cNvPr id="15" name="S5 / S9">
            <a:extLst xmlns:a="http://schemas.openxmlformats.org/drawingml/2006/main">
              <a:ext uri="{FF2B5EF4-FFF2-40B4-BE49-F238E27FC236}">
                <a16:creationId xmlns:a16="http://schemas.microsoft.com/office/drawing/2014/main" id="{45E2C4C1-AFC0-4C42-AF9B-82BEEA3B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S5 / S9</a:t>
            </a:r>
          </a:p>
        </p:txBody>
      </p:sp>
      <p:sp>
        <p:nvSpPr>
          <p:cNvPr id="16" name="YouTube / TikTok · 2025 官">
            <a:extLst xmlns:a="http://schemas.openxmlformats.org/drawingml/2006/main">
              <a:ext uri="{FF2B5EF4-FFF2-40B4-BE49-F238E27FC236}">
                <a16:creationId xmlns:a16="http://schemas.microsoft.com/office/drawing/2014/main" id="{C62B88EB-5B0F-4653-B778-50DB0C20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4827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YouTube / TikTok · 2025 官方说明</a:t>
            </a:r>
          </a:p>
        </p:txBody>
      </p:sp>
      <p:sp>
        <p:nvSpPr>
          <p:cNvPr id="17" name="海外平台规则与测试公告；不等同国内普遍规则">
            <a:extLst xmlns:a="http://schemas.openxmlformats.org/drawingml/2006/main">
              <a:ext uri="{FF2B5EF4-FFF2-40B4-BE49-F238E27FC236}">
                <a16:creationId xmlns:a16="http://schemas.microsoft.com/office/drawing/2014/main" id="{58F063F9-7BF2-4F95-9AEA-1AD8A42D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海外平台规则与测试公告；不等同国内普遍规则</a:t>
            </a:r>
          </a:p>
        </p:txBody>
      </p:sp>
    </p:spTree>
    <p:extLst>
      <p:ext uri="{BB962C8B-B14F-4D97-AF65-F5344CB8AC3E}">
        <p14:creationId xmlns:p14="http://schemas.microsoft.com/office/powerpoint/2010/main" val="5747563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附录 / 核查与延伸阅读">
            <a:extLst xmlns:a="http://schemas.openxmlformats.org/drawingml/2006/main">
              <a:ext uri="{FF2B5EF4-FFF2-40B4-BE49-F238E27FC236}">
                <a16:creationId xmlns:a16="http://schemas.microsoft.com/office/drawing/2014/main" id="{9EDE1FCC-E0D8-4439-86EA-6AC56BB6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6B28"/>
                </a:solidFill>
                <a:latin typeface="Microsoft YaHei"/>
                <a:ea typeface="Microsoft YaHei"/>
                <a:cs typeface="Microsoft YaHei"/>
              </a:rPr>
              <a:t>附录 / 核查与延伸阅读</a:t>
            </a:r>
          </a:p>
        </p:txBody>
      </p:sp>
      <p:sp>
        <p:nvSpPr>
          <p:cNvPr id="2" name="资料附录 B｜研究与未来设想的边界">
            <a:extLst xmlns:a="http://schemas.openxmlformats.org/drawingml/2006/main">
              <a:ext uri="{FF2B5EF4-FFF2-40B4-BE49-F238E27FC236}">
                <a16:creationId xmlns:a16="http://schemas.microsoft.com/office/drawing/2014/main" id="{1D42318F-77F9-419A-9E9D-AFD1D1B1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5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A2D"/>
                </a:solidFill>
                <a:latin typeface="Microsoft YaHei"/>
                <a:ea typeface="Microsoft YaHei"/>
                <a:cs typeface="Microsoft YaHei"/>
              </a:rPr>
              <a:t>资料附录 B｜研究与未来设想的边界</a:t>
            </a:r>
          </a:p>
        </p:txBody>
      </p:sp>
      <p:sp>
        <p:nvSpPr>
          <p:cNvPr id="3" name="结论的力度，应与证据能回答的问题相匹配。">
            <a:extLst xmlns:a="http://schemas.openxmlformats.org/drawingml/2006/main">
              <a:ext uri="{FF2B5EF4-FFF2-40B4-BE49-F238E27FC236}">
                <a16:creationId xmlns:a16="http://schemas.microsoft.com/office/drawing/2014/main" id="{2F2EB40F-5A24-4A6D-8EE4-4E981ABA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结论的力度，应与证据能回答的问题相匹配。</a:t>
            </a:r>
          </a:p>
        </p:txBody>
      </p:sp>
      <p:sp>
        <p:nvSpPr>
          <p:cNvPr id="4" name="概念插画由 AI 生成；不作为真实产品、事件或研究">
            <a:extLst xmlns:a="http://schemas.openxmlformats.org/drawingml/2006/main">
              <a:ext uri="{FF2B5EF4-FFF2-40B4-BE49-F238E27FC236}">
                <a16:creationId xmlns:a16="http://schemas.microsoft.com/office/drawing/2014/main" id="{B8959FD3-394A-4221-8B60-49398983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04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概念插画由 AI 生成；不作为真实产品、事件或研究结果的证据</a:t>
            </a:r>
          </a:p>
        </p:txBody>
      </p:sp>
      <p:sp>
        <p:nvSpPr>
          <p:cNvPr id="5" name="20">
            <a:extLst xmlns:a="http://schemas.openxmlformats.org/drawingml/2006/main">
              <a:ext uri="{FF2B5EF4-FFF2-40B4-BE49-F238E27FC236}">
                <a16:creationId xmlns:a16="http://schemas.microsoft.com/office/drawing/2014/main" id="{1E4FA987-07DD-4ADF-8F08-C59B0832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74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56FAC-99DB-4498-BBF8-A057F7DEB7D1}"/>
              </a:ext>
            </a:extLst>
          </p:cNvPr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108585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3905250"/>
                <a:gridCol w="3857625"/>
              </a:tblGrid>
              <a:tr h="59055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不支持什么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T w="9525">
                      <a:solidFill>
                        <a:srgbClr val="DADDD7"/>
                      </a:solidFill>
                      <a:prstDash val="solid"/>
                    </a:lnT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222A2D"/>
                    </a:solidFill>
                  </a:tcPr>
                </a:tc>
              </a:tr>
              <a:tr h="88900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S6 · 创意写作实验</a:t>
                      </a:r>
                    </a:p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Science Advances · 2024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辅助的收益与集体相似性</a:t>
                      </a:r>
                    </a:p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可以同时出现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完全不能创新</a:t>
                      </a:r>
                    </a:p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或所有 AI 作品必然同质化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S7 · 短视频元分析</a:t>
                      </a:r>
                    </a:p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Psychological Bulletin · 2025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使用与注意力等指标的关联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每位观看者都会受损</a:t>
                      </a:r>
                    </a:p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或永久损伤的单向因果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ECEEE8"/>
                    </a:solidFill>
                  </a:tcPr>
                </a:tc>
              </a:tr>
              <a:tr h="889000"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S8 · Genie 3</a:t>
                      </a:r>
                    </a:p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DeepMind · 2025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DDD7"/>
                      </a:solidFill>
                      <a:prstDash val="solid"/>
                    </a:lnL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交互生成世界的技术探索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23825" rIns="1524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成熟的实时个人专属短剧</a:t>
                      </a:r>
                    </a:p>
                    <a:p>
                      <a:r>
                        <a:rPr sz="1725" b="0">
                          <a:solidFill>
                            <a:srgbClr val="222A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已经普及或必然何时到来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DDD7"/>
                      </a:solidFill>
                      <a:prstDash val="solid"/>
                    </a:lnR>
                    <a:lnB w="9525">
                      <a:solidFill>
                        <a:srgbClr val="DADD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696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2026-10-19T13:52:06.5740000Z</dcterms:created>
  <dcterms:modified xsi:type="dcterms:W3CDTF">2026-10-19T13:52:06.5750000Z</dcterms:modified>
</coreProperties>
</file>